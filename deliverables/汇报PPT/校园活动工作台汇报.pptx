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53ce4802f7467d" /><Relationship Type="http://schemas.openxmlformats.org/officeDocument/2006/relationships/extended-properties" Target="/docProps/app.xml" Id="Rf87f00f5fda84639" /><Relationship Type="http://schemas.openxmlformats.org/officeDocument/2006/relationships/officeDocument" Target="/ppt/presentation.xml" Id="R36ec5fbb70fe43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f7a0c5931425e"/>
  </p:sldMasterIdLst>
  <p:notesMasterIdLst>
    <p:notesMasterId xmlns:r="http://schemas.openxmlformats.org/officeDocument/2006/relationships" r:id="R425ab8fa738d4a04"/>
  </p:notesMasterIdLst>
  <p:sldIdLst>
    <p:sldId xmlns:r="http://schemas.openxmlformats.org/officeDocument/2006/relationships" id="256" r:id="R53c6e18faea04502"/>
    <p:sldId xmlns:r="http://schemas.openxmlformats.org/officeDocument/2006/relationships" id="257" r:id="R5126188b7f5c4b5d"/>
    <p:sldId xmlns:r="http://schemas.openxmlformats.org/officeDocument/2006/relationships" id="258" r:id="Rc5130a5da9384a38"/>
    <p:sldId xmlns:r="http://schemas.openxmlformats.org/officeDocument/2006/relationships" id="259" r:id="R513560bd2f024041"/>
    <p:sldId xmlns:r="http://schemas.openxmlformats.org/officeDocument/2006/relationships" id="260" r:id="R215460552fc247cf"/>
    <p:sldId xmlns:r="http://schemas.openxmlformats.org/officeDocument/2006/relationships" id="261" r:id="R4ca801f6d7964025"/>
    <p:sldId xmlns:r="http://schemas.openxmlformats.org/officeDocument/2006/relationships" id="262" r:id="R17f5a4067e5d4e0c"/>
    <p:sldId xmlns:r="http://schemas.openxmlformats.org/officeDocument/2006/relationships" id="263" r:id="R42450e50872042ba"/>
    <p:sldId xmlns:r="http://schemas.openxmlformats.org/officeDocument/2006/relationships" id="264" r:id="Rdc3af18e81834878"/>
    <p:sldId xmlns:r="http://schemas.openxmlformats.org/officeDocument/2006/relationships" id="265" r:id="Rcc2ada06f44d48b8"/>
    <p:sldId xmlns:r="http://schemas.openxmlformats.org/officeDocument/2006/relationships" id="266" r:id="R8838aecc429a4497"/>
    <p:sldId xmlns:r="http://schemas.openxmlformats.org/officeDocument/2006/relationships" id="267" r:id="Rda5ff6bd3ebc45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a8786e4a254f0f" /><Relationship Type="http://schemas.openxmlformats.org/officeDocument/2006/relationships/slideMaster" Target="/ppt/slideMasters/slideMaster1.xml" Id="R0b8f7a0c5931425e" /><Relationship Type="http://schemas.openxmlformats.org/officeDocument/2006/relationships/notesMaster" Target="/ppt/notesMasters/notesMaster1.xml" Id="R425ab8fa738d4a04" /><Relationship Type="http://schemas.openxmlformats.org/officeDocument/2006/relationships/presProps" Target="/ppt/presProps.xml" Id="R2f428acaee7440dc" /><Relationship Type="http://schemas.openxmlformats.org/officeDocument/2006/relationships/tableStyles" Target="/ppt/tableStyles.xml" Id="Re20859b756404d4a" /><Relationship Type="http://schemas.openxmlformats.org/officeDocument/2006/relationships/slide" Target="/ppt/slides/slide1.xml" Id="R53c6e18faea04502" /><Relationship Type="http://schemas.openxmlformats.org/officeDocument/2006/relationships/slide" Target="/ppt/slides/slide2.xml" Id="R5126188b7f5c4b5d" /><Relationship Type="http://schemas.openxmlformats.org/officeDocument/2006/relationships/slide" Target="/ppt/slides/slide3.xml" Id="Rc5130a5da9384a38" /><Relationship Type="http://schemas.openxmlformats.org/officeDocument/2006/relationships/slide" Target="/ppt/slides/slide4.xml" Id="R513560bd2f024041" /><Relationship Type="http://schemas.openxmlformats.org/officeDocument/2006/relationships/slide" Target="/ppt/slides/slide5.xml" Id="R215460552fc247cf" /><Relationship Type="http://schemas.openxmlformats.org/officeDocument/2006/relationships/slide" Target="/ppt/slides/slide6.xml" Id="R4ca801f6d7964025" /><Relationship Type="http://schemas.openxmlformats.org/officeDocument/2006/relationships/slide" Target="/ppt/slides/slide7.xml" Id="R17f5a4067e5d4e0c" /><Relationship Type="http://schemas.openxmlformats.org/officeDocument/2006/relationships/slide" Target="/ppt/slides/slide8.xml" Id="R42450e50872042ba" /><Relationship Type="http://schemas.openxmlformats.org/officeDocument/2006/relationships/slide" Target="/ppt/slides/slide9.xml" Id="Rdc3af18e81834878" /><Relationship Type="http://schemas.openxmlformats.org/officeDocument/2006/relationships/slide" Target="/ppt/slides/slide10.xml" Id="Rcc2ada06f44d48b8" /><Relationship Type="http://schemas.openxmlformats.org/officeDocument/2006/relationships/slide" Target="/ppt/slides/slide11.xml" Id="R8838aecc429a4497" /><Relationship Type="http://schemas.openxmlformats.org/officeDocument/2006/relationships/slide" Target="/ppt/slides/slide12.xml" Id="Rda5ff6bd3ebc45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37a04f7a4e4b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校园活动墨绿">
      <a:dk1>
        <a:srgbClr val="000000"/>
      </a:dk1>
      <a:lt1>
        <a:srgbClr val="FFFFFF"/>
      </a:lt1>
      <a:dk2>
        <a:srgbClr val="173D45"/>
      </a:dk2>
      <a:lt2>
        <a:srgbClr val="EEF4F4"/>
      </a:lt2>
      <a:accent1>
        <a:srgbClr val="173D45"/>
      </a:accent1>
      <a:accent2>
        <a:srgbClr val="247F80"/>
      </a:accent2>
      <a:accent3>
        <a:srgbClr val="587078"/>
      </a:accent3>
      <a:accent4>
        <a:srgbClr val="A47727"/>
      </a:accent4>
      <a:accent5>
        <a:srgbClr val="A8413B"/>
      </a:accent5>
      <a:accent6>
        <a:srgbClr val="436B8E"/>
      </a:accent6>
      <a:hlink>
        <a:srgbClr val="247F80"/>
      </a:hlink>
      <a:folHlink>
        <a:srgbClr val="587078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校园活动墨绿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1ac63cd0b14353" /><Relationship Type="http://schemas.openxmlformats.org/officeDocument/2006/relationships/notesMaster" Target="/ppt/notesMasters/notesMaster1.xml" Id="Rcba857224d2d44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6d3870434240f0" /><Relationship Type="http://schemas.openxmlformats.org/officeDocument/2006/relationships/notesMaster" Target="/ppt/notesMasters/notesMaster1.xml" Id="R25a0a77d05294e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1acb0d3bb2486d" /><Relationship Type="http://schemas.openxmlformats.org/officeDocument/2006/relationships/notesMaster" Target="/ppt/notesMasters/notesMaster1.xml" Id="Rdfeb8d2331994c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aab8325cc24fc2" /><Relationship Type="http://schemas.openxmlformats.org/officeDocument/2006/relationships/notesMaster" Target="/ppt/notesMasters/notesMaster1.xml" Id="R9a922dce308e4e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5779f75cbc4c57" /><Relationship Type="http://schemas.openxmlformats.org/officeDocument/2006/relationships/notesMaster" Target="/ppt/notesMasters/notesMaster1.xml" Id="Rd0f216ec4b6e42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61228a517a4482" /><Relationship Type="http://schemas.openxmlformats.org/officeDocument/2006/relationships/notesMaster" Target="/ppt/notesMasters/notesMaster1.xml" Id="R4723aa02389048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fa271043bb41b3" /><Relationship Type="http://schemas.openxmlformats.org/officeDocument/2006/relationships/notesMaster" Target="/ppt/notesMasters/notesMaster1.xml" Id="Rc79c762c8f9247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094768a2fe4069" /><Relationship Type="http://schemas.openxmlformats.org/officeDocument/2006/relationships/notesMaster" Target="/ppt/notesMasters/notesMaster1.xml" Id="R111d1b44b80f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b4a5ebfd0e4bd8" /><Relationship Type="http://schemas.openxmlformats.org/officeDocument/2006/relationships/notesMaster" Target="/ppt/notesMasters/notesMaster1.xml" Id="R26476046ca3041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2bc607af174ef3" /><Relationship Type="http://schemas.openxmlformats.org/officeDocument/2006/relationships/notesMaster" Target="/ppt/notesMasters/notesMaster1.xml" Id="R043d08888b6748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6a698e6fa5477f" /><Relationship Type="http://schemas.openxmlformats.org/officeDocument/2006/relationships/notesMaster" Target="/ppt/notesMasters/notesMaster1.xml" Id="R3cdc9e2978f742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e79772772e48c8" /><Relationship Type="http://schemas.openxmlformats.org/officeDocument/2006/relationships/notesMaster" Target="/ppt/notesMasters/notesMaster1.xml" Id="Rb252729babcd4f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建议讲述时长：15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大家好，我们汇报的是大型校园活动结构化策划与管控工作台。我们以校园科技文化节贯通策划、筹备、执行和收尾，把任务安排、过程材料和风险处置连接到同一个项目中。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deliverables/总结报告/总结报告.tex（2026-10-11）</a:t>
            </a:r>
          </a:p>
          <a:p xmlns:a="http://schemas.openxmlformats.org/drawingml/2006/main">
            <a:r>
              <a:t>- Git 提交 d39138e，workbench/demo2</a:t>
            </a:r>
          </a:p>
          <a:p xmlns:a="http://schemas.openxmlformats.org/drawingml/2006/main">
            <a:r>
              <a:t>- deliverables/总结报告/images/screenshots/chapter4-capture.json，截图仅裁切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我们先从一个具体问题切入：如果活动场地发生变化，任务排期、宣传文案、设备安排和应急预案都需要重新核对。通过 SPIN，我们把这些难点归纳为统一信息、职责衔接和成果验收的需求，再明确三个建设目标：全周期管控、过程材料齐全，以及风险分级应急。结合信息关联和 AI 输入控制需求，我们选择自建工作台。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deliverables/总结报告/总结报告.tex（2026-10-11）</a:t>
            </a:r>
          </a:p>
          <a:p xmlns:a="http://schemas.openxmlformats.org/drawingml/2006/main">
            <a:r>
              <a:t>- Git 提交 d39138e，workbench/demo2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我们先按过程时间把活动分为四个阶段，再用逻辑树展开各阶段行动。策划确定目标、方案和预算，筹备落实宣传、资源与排班，执行按岗位推进并处理异常，收尾完成决算、复盘和归档。MECE 用来检查边界和覆盖，跨阶段事项拆成独立节点并保留依赖。5W2H 则把任务细化为负责人、期限、地点、方法和资源，让每个节点都有完成证据。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deliverables/总结报告/总结报告.tex（2026-10-11）</a:t>
            </a:r>
          </a:p>
          <a:p xmlns:a="http://schemas.openxmlformats.org/drawingml/2006/main">
            <a:r>
              <a:t>- 课程《第2章 结构化思维核心框架与基础工具》：MECE、逻辑树、5W2H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登录后先进入项目库，再创建或打开活动。活动名称、时间、地点、人数和预算统一维护，任务和材料都采用这些事实。这里展示任务安排：负责人从已确认名册中选择人员，填写岗位、时间、地点和执行要求，一次可以安排多人，每个人都有独立班次。同一人员的时间冲突、技能要求和资源不足会在保存时检查。成员从我的任务查看安排、打卡并写报告，组织者在总览和阶段检查点检查推进情况。这把 5W2H 具体落实到了字段和操作中。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Git 提交 d39138e，workbench/demo2</a:t>
            </a:r>
          </a:p>
          <a:p xmlns:a="http://schemas.openxmlformats.org/drawingml/2006/main">
            <a:r>
              <a:t>- workbench/demo2/docs/服务人员账号与统一资源管理.md</a:t>
            </a:r>
          </a:p>
          <a:p xmlns:a="http://schemas.openxmlformats.org/drawingml/2006/main">
            <a:r>
              <a:t>- deliverables/总结报告/images/screenshots/chapter4-capture.json，截图仅裁切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工作台使用 DeepSeek 辅助文字生成，GPT-image2 生成宣传图片。材料生成先选项目事实和引用资料，再由技能包规定任务、结构和事实边界。卡片工作流允许下游引用上游结果，例如先确认活动执行口径，再生成参与者通知和岗位简报。这里的画布展示引用关系，右侧是已经生成并核对活动文案的海报。ALIGN 用于明确目标、深度、依据、规则和成果，RTGO 用于边界清楚的单项任务。生成后成员核对时间、地点、费用和职责，再编辑、确认交付版本并导出。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Git 提交 d39138e，workbench/demo2</a:t>
            </a:r>
          </a:p>
          <a:p xmlns:a="http://schemas.openxmlformats.org/drawingml/2006/main">
            <a:r>
              <a:t>- deliverables/总结报告/images/screenshots/chapter4-capture.json，截图仅裁切</a:t>
            </a:r>
          </a:p>
          <a:p xmlns:a="http://schemas.openxmlformats.org/drawingml/2006/main">
            <a:r>
              <a:t>- deliverables/总结报告/images/poster-生成说明.md；GPT-image2 生成图像</a:t>
            </a:r>
          </a:p>
          <a:p xmlns:a="http://schemas.openxmlformats.org/drawingml/2006/main">
            <a:r>
              <a:t>- workbench/demo2/skills/activity-proposal/SKILL.md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风险管理以可能性乘影响评分，高风险是十五至二十五分，中风险八至十四分，低风险一至七分。以示例中的恶劣天气为例，评分四乘四等于十六，属于高风险。重点是把等级落实为行动：天气导致户外展区无法开放时，由总协调决定是否启用备用场地，宣传更新通知、后勤搬运、执行人员引导。转场中的安全风险按高风险流程处置。通过变更演练核对步骤，再把结论写回台账，形成 PDCA 的检查与修订。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workbench/demo2/samples/示例项目-校园科技文化节.json（内置示例）</a:t>
            </a:r>
          </a:p>
          <a:p xmlns:a="http://schemas.openxmlformats.org/drawingml/2006/main">
            <a:r>
              <a:t>- deliverables/总结报告/总结报告.tex（2026-10-11）</a:t>
            </a:r>
          </a:p>
          <a:p xmlns:a="http://schemas.openxmlformats.org/drawingml/2006/main">
            <a:r>
              <a:t>- workbench/demo2/core/risk.js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班次与整项任务分别核对。截图中的执行人员已经结束班次并提交报告，但任务还需要补齐责任与交付依据。材料经人工确认后保存独立版本，责任人选择实际版本提交，组织者验收通过或退回。材料以后再次编辑，不改变原验收引用。活动收尾则整理复盘、决算和资料归档，导出项目包及成果文件。这样，执行记录、实际材料和验收判断能够相互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Git 提交 d39138e，workbench/demo2</a:t>
            </a:r>
          </a:p>
          <a:p xmlns:a="http://schemas.openxmlformats.org/drawingml/2006/main">
            <a:r>
              <a:t>- deliverables/总结报告/验证与截图记录.md（2026-10-11）</a:t>
            </a:r>
          </a:p>
          <a:p xmlns:a="http://schemas.openxmlformats.org/drawingml/2006/main">
            <a:r>
              <a:t>- workbench/demo2/core/deliveries.js</a:t>
            </a:r>
          </a:p>
          <a:p xmlns:a="http://schemas.openxmlformats.org/drawingml/2006/main">
            <a:r>
              <a:t>- workbench/demo2/core/task-lifecycle.js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用实际软件检查验证这些规则。离线回归覆盖三十八个模块、一千零四十四项断言，失败为零；专项检查覆盖共享权限、排班冲突和交付版本。复测确认，材料更新保留原验收依据，只读写入被拒绝，排班冲突时整组保存失败。项目把结构化思维落实为任务边界、数据关系和验收规则，AI 在统一依据下辅助生产，由使用者承担判断、修订和确认。谢谢大家。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deliverables/总结报告/验证与截图记录.md（2026-10-11）</a:t>
            </a:r>
          </a:p>
          <a:p xmlns:a="http://schemas.openxmlformats.org/drawingml/2006/main">
            <a:r>
              <a:t>- deliverables/总结报告/总结报告.tex（2026-10-11）</a:t>
            </a:r>
          </a:p>
          <a:p xmlns:a="http://schemas.openxmlformats.org/drawingml/2006/main">
            <a:r>
              <a:t>- 本次拉取后运行 tools/selftest.mjs：38 模块、1044 断言、失败 0 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方案采用定性适配比较。自建工作台便于将任务、风险、人员和材料关联到统一项目，并配置技能包和卡片依赖。浏览器处理操作与编辑，Node 服务处理账号、共享、排班、交付和模型请求。当前文件存储按单进程运行，浏览器项目包与服务数据分别备份。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deliverables/总结报告/总结报告.tex（2026-10-11）</a:t>
            </a:r>
          </a:p>
          <a:p xmlns:a="http://schemas.openxmlformats.org/drawingml/2006/main">
            <a:r>
              <a:t>- Git 提交 d39138e，workbench/demo2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左侧将项目技能包要求按 ALIGN 整理，用于说明输入结构，并非伪造的历史聊天记录。活动策划书技能包要求依据项目信息、任务和风险台账，模板章节保持一致，未知项写待确认。海报的实际生成记录限定了名称、日期、地点及五个活动板块，要求原文一致，不额外添加二维码、标志或赞助商。材料确认版本后再作为任务交付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deliverables/总结报告/总结报告.tex（2026-10-11）</a:t>
            </a:r>
          </a:p>
          <a:p xmlns:a="http://schemas.openxmlformats.org/drawingml/2006/main">
            <a:r>
              <a:t>- workbench/demo2/skills/activity-proposal/SKILL.md</a:t>
            </a:r>
          </a:p>
          <a:p xmlns:a="http://schemas.openxmlformats.org/drawingml/2006/main">
            <a:r>
              <a:t>- deliverables/总结报告/images/poster-生成说明.md；GPT-image2 生成图像</a:t>
            </a:r>
          </a:p>
          <a:p xmlns:a="http://schemas.openxmlformats.org/drawingml/2006/main">
            <a:r>
              <a:t>- deliverables/总结报告/images/screenshots/chapter4-capture.json，截图仅裁切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各验证组分别呈现结果，不合计为活动人数或模型准确率。关联专项七十六项包含五十六项接口和二十项浏览器检查。浏览器的 AI 编排检查拦截请求并使用受控响应，核对引用和写回，不消耗真实模型额度。实际策划书与海报另行人工核验内容。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deliverables/总结报告/验证与截图记录.md（2026-10-11）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本页按阶段列出代表材料类别，实际演示以现有文件和工作台内容为准。图片展示已有策划书及编辑、确认版本、导出入口。成员姓名和实际贡献尚未提供，因此保留待补充。项目按需求流程、界面交互、AI 材料、测试交付四个接口组织协作，具体归属依实际记录填写。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Git 提交 d39138e，workbench/demo2</a:t>
            </a:r>
          </a:p>
          <a:p xmlns:a="http://schemas.openxmlformats.org/drawingml/2006/main">
            <a:r>
              <a:t>- deliverables/总结报告/总结报告.tex（2026-10-11）</a:t>
            </a:r>
          </a:p>
          <a:p xmlns:a="http://schemas.openxmlformats.org/drawingml/2006/main">
            <a:r>
              <a:t>- deliverables/总结报告/images/screenshots/chapter4-capture.json，截图仅裁切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8091ec23f4d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4078b6cbc41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6ac83d90f44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08d8649a14f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ecb804f2943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44b42bde448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DF71F9-1927-4DE5-955D-765C1F99A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1D9A16-05E0-481D-B614-9CA95AA87B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79D74F-FBD9-4C39-AB0E-4ABC38CAF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B1BF84-2D3D-4955-AAB7-A3AD5A55E6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8DC3DD-6F6A-4867-9AE7-4AF45C6C12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612A81-9458-4941-BF5E-DE366718AF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C2A7EB-77AF-4930-8230-C7332D5807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20BE42-34FF-4B02-A0F0-E21C1FF05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D1AF0A-9259-443A-977A-92FDB3FE7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377EB4-1341-40AD-BE4E-444731AEBC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67d0ab3beb48db" /><Relationship Type="http://schemas.openxmlformats.org/officeDocument/2006/relationships/slideLayout" Target="/ppt/slideLayouts/slideLayout1.xml" Id="Rf775a2b64d12452f" /><Relationship Type="http://schemas.openxmlformats.org/officeDocument/2006/relationships/slideLayout" Target="/ppt/slideLayouts/slideLayout2.xml" Id="R376f9bfb22c94d63" /><Relationship Type="http://schemas.openxmlformats.org/officeDocument/2006/relationships/slideLayout" Target="/ppt/slideLayouts/slideLayout3.xml" Id="R089f732de2cb4429" /><Relationship Type="http://schemas.openxmlformats.org/officeDocument/2006/relationships/slideLayout" Target="/ppt/slideLayouts/slideLayout4.xml" Id="R7c37acdc8dd94a5d" /><Relationship Type="http://schemas.openxmlformats.org/officeDocument/2006/relationships/slideLayout" Target="/ppt/slideLayouts/slideLayout5.xml" Id="Rc5e25410aaa54ce6" /><Relationship Type="http://schemas.openxmlformats.org/officeDocument/2006/relationships/slideLayout" Target="/ppt/slideLayouts/slideLayout6.xml" Id="R4e91009255d643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75a2b64d12452f"/>
    <p:sldLayoutId xmlns:r="http://schemas.openxmlformats.org/officeDocument/2006/relationships" id="2147483650" r:id="R376f9bfb22c94d63"/>
    <p:sldLayoutId xmlns:r="http://schemas.openxmlformats.org/officeDocument/2006/relationships" id="2147483651" r:id="R089f732de2cb4429"/>
    <p:sldLayoutId xmlns:r="http://schemas.openxmlformats.org/officeDocument/2006/relationships" id="2147483652" r:id="R7c37acdc8dd94a5d"/>
    <p:sldLayoutId xmlns:r="http://schemas.openxmlformats.org/officeDocument/2006/relationships" id="2147483653" r:id="Rc5e25410aaa54ce6"/>
    <p:sldLayoutId xmlns:r="http://schemas.openxmlformats.org/officeDocument/2006/relationships" id="2147483654" r:id="R4e91009255d643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校园活动墨绿">
      <a:dk1>
        <a:srgbClr val="000000"/>
      </a:dk1>
      <a:lt1>
        <a:srgbClr val="FFFFFF"/>
      </a:lt1>
      <a:dk2>
        <a:srgbClr val="173D45"/>
      </a:dk2>
      <a:lt2>
        <a:srgbClr val="EEF4F4"/>
      </a:lt2>
      <a:accent1>
        <a:srgbClr val="173D45"/>
      </a:accent1>
      <a:accent2>
        <a:srgbClr val="247F80"/>
      </a:accent2>
      <a:accent3>
        <a:srgbClr val="587078"/>
      </a:accent3>
      <a:accent4>
        <a:srgbClr val="A47727"/>
      </a:accent4>
      <a:accent5>
        <a:srgbClr val="A8413B"/>
      </a:accent5>
      <a:accent6>
        <a:srgbClr val="436B8E"/>
      </a:accent6>
      <a:hlink>
        <a:srgbClr val="247F80"/>
      </a:hlink>
      <a:folHlink>
        <a:srgbClr val="587078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校园活动墨绿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38a3532e7427c" /><Relationship Type="http://schemas.openxmlformats.org/officeDocument/2006/relationships/image" Target="/ppt/media/image.jpeg" Id="R2534570dd2f5472f" /><Relationship Type="http://schemas.openxmlformats.org/officeDocument/2006/relationships/notesSlide" Target="/ppt/notesSlides/notesSlide1.xml" Id="R00cc3e9923954a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25cfdc70442b6" /><Relationship Type="http://schemas.openxmlformats.org/officeDocument/2006/relationships/notesSlide" Target="/ppt/notesSlides/notesSlide2.xml" Id="R76f07ae6da104e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6bc282ebf483a" /><Relationship Type="http://schemas.openxmlformats.org/officeDocument/2006/relationships/notesSlide" Target="/ppt/notesSlides/notesSlide3.xml" Id="Rd1ff934ea1e044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7cab3c1614fdf" /><Relationship Type="http://schemas.openxmlformats.org/officeDocument/2006/relationships/image" Target="/ppt/media/image.png" Id="Rcec963bdd7fa436f" /><Relationship Type="http://schemas.openxmlformats.org/officeDocument/2006/relationships/image" Target="/ppt/media/image2.png" Id="R39a9e4764c564001" /><Relationship Type="http://schemas.openxmlformats.org/officeDocument/2006/relationships/notesSlide" Target="/ppt/notesSlides/notesSlide4.xml" Id="R34330549d0aa49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8531a466a54cf6" /><Relationship Type="http://schemas.openxmlformats.org/officeDocument/2006/relationships/image" Target="/ppt/media/image2.jpeg" Id="R82d793f13a8b4f82" /><Relationship Type="http://schemas.openxmlformats.org/officeDocument/2006/relationships/image" Target="/ppt/media/image3.png" Id="Rc5e0828cf2794c98" /><Relationship Type="http://schemas.openxmlformats.org/officeDocument/2006/relationships/notesSlide" Target="/ppt/notesSlides/notesSlide5.xml" Id="Rd1204e9ec49d49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10883272841e9" /><Relationship Type="http://schemas.openxmlformats.org/officeDocument/2006/relationships/notesSlide" Target="/ppt/notesSlides/notesSlide6.xml" Id="R921b8e4a2f3543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8e7a400fb4a4d" /><Relationship Type="http://schemas.openxmlformats.org/officeDocument/2006/relationships/image" Target="/ppt/media/image4.png" Id="R9e87a525a1c846fa" /><Relationship Type="http://schemas.openxmlformats.org/officeDocument/2006/relationships/image" Target="/ppt/media/image5.png" Id="R06f7136a53bd4972" /><Relationship Type="http://schemas.openxmlformats.org/officeDocument/2006/relationships/notesSlide" Target="/ppt/notesSlides/notesSlide7.xml" Id="R213a5b343f8a42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ca342acfe415e" /><Relationship Type="http://schemas.openxmlformats.org/officeDocument/2006/relationships/notesSlide" Target="/ppt/notesSlides/notesSlide8.xml" Id="R88f100a81edf47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3650415e74231" /><Relationship Type="http://schemas.openxmlformats.org/officeDocument/2006/relationships/notesSlide" Target="/ppt/notesSlides/notesSlide9.xml" Id="Rb89d143ecd6a48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7175219dd4da3" /><Relationship Type="http://schemas.openxmlformats.org/officeDocument/2006/relationships/image" Target="/ppt/media/image6.png" Id="R489cb19fc51d4626" /><Relationship Type="http://schemas.openxmlformats.org/officeDocument/2006/relationships/notesSlide" Target="/ppt/notesSlides/notesSlide10.xml" Id="R145db8a15c8043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5b0ca3d4a45e8" /><Relationship Type="http://schemas.openxmlformats.org/officeDocument/2006/relationships/notesSlide" Target="/ppt/notesSlides/notesSlide11.xml" Id="Rf79e7709fd554f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886059f814af7" /><Relationship Type="http://schemas.openxmlformats.org/officeDocument/2006/relationships/image" Target="/ppt/media/image3.jpeg" Id="R0fb7cbf3d99941fb" /><Relationship Type="http://schemas.openxmlformats.org/officeDocument/2006/relationships/notesSlide" Target="/ppt/notesSlides/notesSlide12.xml" Id="R07be4e73a62f4d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87281D09-3A33-4EE5-AF39-36D200EF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大型校园活动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CBB0ECE-DA56-48F9-AE1A-2C19C447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149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结构化策划与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管控工作台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DC2D0F0-87F5-42DD-9FC8-A2470501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rPr>
              <a:t>以校园科技文化节贯通全周期管理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52C218E-28FD-486F-B499-5B36CB4E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rPr>
              <a:t>《多模态 AI 与结构化思维导论》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8B59E84-D72B-428F-929A-F2223969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rPr>
              <a:t>小组编号、成员与汇报人：待补充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419DD-957D-4DA1-9137-FDC42923B0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4570dd2f5472f"/>
          <a:stretch xmlns:a="http://schemas.openxmlformats.org/drawingml/2006/main"/>
        </p:blipFill>
        <p:spPr>
          <a:xfrm xmlns:a="http://schemas.openxmlformats.org/drawingml/2006/main">
            <a:off x="6334125" y="2077737"/>
            <a:ext cx="5238750" cy="2216750"/>
          </a:xfrm>
          <a:prstGeom xmlns:a="http://schemas.openxmlformats.org/drawingml/2006/main" prst="rect">
            <a:avLst/>
          </a:prstGeom>
        </p:spPr>
      </p:pic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D5FFAEA-C373-4680-BAFE-C1E24D8E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rPr>
              <a:t>登录后的项目库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CD1C382-7F93-405F-BEAF-7FFD4A8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1722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324978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66B62-7682-4C60-8D90-8C4610A9E4F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438400" y="3895725"/>
            <a:ext cx="81915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7078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F3B59-82BD-4902-9702-5D1FA5BF6CC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38400" y="3895725"/>
            <a:ext cx="819150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7078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D85C8-01D2-447F-9A22-78E9165D340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438400" y="3467100"/>
            <a:ext cx="819150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7078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0F738-86E9-4911-8D3F-7EB8675DE0B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438400" y="2657475"/>
            <a:ext cx="8191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7078"/>
            </a:solidFill>
            <a:prstDash val="solid"/>
            <a:tailEnd type="triangle" w="med" len="med"/>
          </a:ln>
        </p:spPr>
      </p:cxnSp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69596E-6B49-483D-8BC3-F6E7D722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活动组织问题与建设目标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A7BBAA3D-DC9A-4003-806F-4643FF94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场地变化会同时影响任务、宣传、设备和应急安排</a:t>
            </a:r>
          </a:p>
        </p:txBody>
      </p:sp>
      <p:sp>
        <p:nvSpPr>
          <p:cNvPr id="3" name="rect-9">
            <a:extLst xmlns:a="http://schemas.openxmlformats.org/drawingml/2006/main">
              <a:ext uri="{FF2B5EF4-FFF2-40B4-BE49-F238E27FC236}">
                <a16:creationId xmlns:a16="http://schemas.microsoft.com/office/drawing/2014/main" id="{A09F8518-53F1-4B7D-89B6-EE623322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D26D3E26-90AC-4F3F-AF93-1FF9F402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校园活动结构化策划与管控工作台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81F1E3EC-E9C7-4A08-8B0C-BB581DF8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12">
            <a:extLst xmlns:a="http://schemas.openxmlformats.org/drawingml/2006/main">
              <a:ext uri="{FF2B5EF4-FFF2-40B4-BE49-F238E27FC236}">
                <a16:creationId xmlns:a16="http://schemas.microsoft.com/office/drawing/2014/main" id="{9C511FC6-994D-41B8-A8D9-D21CE6B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同一次变化，需要同步核对</a:t>
            </a:r>
          </a:p>
        </p:txBody>
      </p:sp>
      <p:sp>
        <p:nvSpPr>
          <p:cNvPr id="7" name="rect-13">
            <a:extLst xmlns:a="http://schemas.openxmlformats.org/drawingml/2006/main">
              <a:ext uri="{FF2B5EF4-FFF2-40B4-BE49-F238E27FC236}">
                <a16:creationId xmlns:a16="http://schemas.microsoft.com/office/drawing/2014/main" id="{0146C6F8-B406-4E4F-8E71-60CFC49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828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45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活动场地调整</a:t>
            </a:r>
          </a:p>
        </p:txBody>
      </p:sp>
      <p:sp>
        <p:nvSpPr>
          <p:cNvPr id="8" name="rect-14">
            <a:extLst xmlns:a="http://schemas.openxmlformats.org/drawingml/2006/main">
              <a:ext uri="{FF2B5EF4-FFF2-40B4-BE49-F238E27FC236}">
                <a16:creationId xmlns:a16="http://schemas.microsoft.com/office/drawing/2014/main" id="{5E527FBE-27F6-4EF3-A77F-99CE3D90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任务排期</a:t>
            </a:r>
          </a:p>
        </p:txBody>
      </p:sp>
      <p:sp>
        <p:nvSpPr>
          <p:cNvPr id="10" name="rect-15">
            <a:extLst xmlns:a="http://schemas.openxmlformats.org/drawingml/2006/main">
              <a:ext uri="{FF2B5EF4-FFF2-40B4-BE49-F238E27FC236}">
                <a16:creationId xmlns:a16="http://schemas.microsoft.com/office/drawing/2014/main" id="{E3AFED48-B23B-48D9-966A-5B4AA971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90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宣传文案</a:t>
            </a:r>
          </a:p>
        </p:txBody>
      </p:sp>
      <p:sp>
        <p:nvSpPr>
          <p:cNvPr id="12" name="rect-16">
            <a:extLst xmlns:a="http://schemas.openxmlformats.org/drawingml/2006/main">
              <a:ext uri="{FF2B5EF4-FFF2-40B4-BE49-F238E27FC236}">
                <a16:creationId xmlns:a16="http://schemas.microsoft.com/office/drawing/2014/main" id="{88BEA5DE-3815-4C6B-A310-880FD605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00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设备安排</a:t>
            </a:r>
          </a:p>
        </p:txBody>
      </p:sp>
      <p:sp>
        <p:nvSpPr>
          <p:cNvPr id="14" name="rect-17">
            <a:extLst xmlns:a="http://schemas.openxmlformats.org/drawingml/2006/main">
              <a:ext uri="{FF2B5EF4-FFF2-40B4-BE49-F238E27FC236}">
                <a16:creationId xmlns:a16="http://schemas.microsoft.com/office/drawing/2014/main" id="{A0D36B0E-21C4-4333-96FE-B17E76D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101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应急预案</a:t>
            </a:r>
          </a:p>
        </p:txBody>
      </p:sp>
      <p:sp>
        <p:nvSpPr>
          <p:cNvPr id="16" name="rect-18">
            <a:extLst xmlns:a="http://schemas.openxmlformats.org/drawingml/2006/main">
              <a:ext uri="{FF2B5EF4-FFF2-40B4-BE49-F238E27FC236}">
                <a16:creationId xmlns:a16="http://schemas.microsoft.com/office/drawing/2014/main" id="{78F0DE81-8750-414E-B33D-7848D88F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52625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-19">
            <a:extLst xmlns:a="http://schemas.openxmlformats.org/drawingml/2006/main">
              <a:ext uri="{FF2B5EF4-FFF2-40B4-BE49-F238E27FC236}">
                <a16:creationId xmlns:a16="http://schemas.microsoft.com/office/drawing/2014/main" id="{1F3B742A-0D52-4278-9906-2F8A9309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52625"/>
            <a:ext cx="14288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0">
            <a:extLst xmlns:a="http://schemas.openxmlformats.org/drawingml/2006/main">
              <a:ext uri="{FF2B5EF4-FFF2-40B4-BE49-F238E27FC236}">
                <a16:creationId xmlns:a16="http://schemas.microsoft.com/office/drawing/2014/main" id="{D3DEAAFE-4550-4902-B51B-EC91F33E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66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text-21">
            <a:extLst xmlns:a="http://schemas.openxmlformats.org/drawingml/2006/main">
              <a:ext uri="{FF2B5EF4-FFF2-40B4-BE49-F238E27FC236}">
                <a16:creationId xmlns:a16="http://schemas.microsoft.com/office/drawing/2014/main" id="{3C3D3E22-EA24-4211-80F7-3F64FA54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952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全周期管控</a:t>
            </a:r>
          </a:p>
        </p:txBody>
      </p:sp>
      <p:sp>
        <p:nvSpPr>
          <p:cNvPr id="20" name="text-22">
            <a:extLst xmlns:a="http://schemas.openxmlformats.org/drawingml/2006/main">
              <a:ext uri="{FF2B5EF4-FFF2-40B4-BE49-F238E27FC236}">
                <a16:creationId xmlns:a16="http://schemas.microsoft.com/office/drawing/2014/main" id="{E6EA9E94-892A-4921-BE45-2F2F323F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90775"/>
            <a:ext cx="4038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明确四阶段任务、责任与检查点</a:t>
            </a:r>
          </a:p>
        </p:txBody>
      </p:sp>
      <p:sp>
        <p:nvSpPr>
          <p:cNvPr id="21" name="text-23">
            <a:extLst xmlns:a="http://schemas.openxmlformats.org/drawingml/2006/main">
              <a:ext uri="{FF2B5EF4-FFF2-40B4-BE49-F238E27FC236}">
                <a16:creationId xmlns:a16="http://schemas.microsoft.com/office/drawing/2014/main" id="{D9A325DE-11F1-46F4-A7F4-716EAADB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38475"/>
            <a:ext cx="66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text-24">
            <a:extLst xmlns:a="http://schemas.openxmlformats.org/drawingml/2006/main">
              <a:ext uri="{FF2B5EF4-FFF2-40B4-BE49-F238E27FC236}">
                <a16:creationId xmlns:a16="http://schemas.microsoft.com/office/drawing/2014/main" id="{6B295E06-7804-453E-AAC9-E38523FC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48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过程材料齐全</a:t>
            </a:r>
          </a:p>
        </p:txBody>
      </p:sp>
      <p:sp>
        <p:nvSpPr>
          <p:cNvPr id="23" name="text-25">
            <a:extLst xmlns:a="http://schemas.openxmlformats.org/drawingml/2006/main">
              <a:ext uri="{FF2B5EF4-FFF2-40B4-BE49-F238E27FC236}">
                <a16:creationId xmlns:a16="http://schemas.microsoft.com/office/drawing/2014/main" id="{2F3DD2D0-6E9B-44DA-BBD8-9C800FDE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86150"/>
            <a:ext cx="4038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策划、宣传、执行和收尾均有产出</a:t>
            </a:r>
          </a:p>
        </p:txBody>
      </p:sp>
      <p:sp>
        <p:nvSpPr>
          <p:cNvPr id="24" name="text-26">
            <a:extLst xmlns:a="http://schemas.openxmlformats.org/drawingml/2006/main">
              <a:ext uri="{FF2B5EF4-FFF2-40B4-BE49-F238E27FC236}">
                <a16:creationId xmlns:a16="http://schemas.microsoft.com/office/drawing/2014/main" id="{B8FEF797-39B5-4224-85F5-4CD45377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33850"/>
            <a:ext cx="66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-27">
            <a:extLst xmlns:a="http://schemas.openxmlformats.org/drawingml/2006/main">
              <a:ext uri="{FF2B5EF4-FFF2-40B4-BE49-F238E27FC236}">
                <a16:creationId xmlns:a16="http://schemas.microsoft.com/office/drawing/2014/main" id="{A8A1659E-DBDD-46FE-B7FA-B5FA0918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43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风险分级应急</a:t>
            </a:r>
          </a:p>
        </p:txBody>
      </p:sp>
      <p:sp>
        <p:nvSpPr>
          <p:cNvPr id="26" name="text-28">
            <a:extLst xmlns:a="http://schemas.openxmlformats.org/drawingml/2006/main">
              <a:ext uri="{FF2B5EF4-FFF2-40B4-BE49-F238E27FC236}">
                <a16:creationId xmlns:a16="http://schemas.microsoft.com/office/drawing/2014/main" id="{890E8EED-EA8C-4F28-B1FC-EB4EF30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581525"/>
            <a:ext cx="4038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评分对应触发条件与处置行动</a:t>
            </a:r>
          </a:p>
        </p:txBody>
      </p:sp>
      <p:sp>
        <p:nvSpPr>
          <p:cNvPr id="27" name="text-29">
            <a:extLst xmlns:a="http://schemas.openxmlformats.org/drawingml/2006/main">
              <a:ext uri="{FF2B5EF4-FFF2-40B4-BE49-F238E27FC236}">
                <a16:creationId xmlns:a16="http://schemas.microsoft.com/office/drawing/2014/main" id="{94C51C2C-8258-4107-AE81-67872707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SPIN：从组织难点推导需求，确定工作台建设目标</a:t>
            </a:r>
          </a:p>
        </p:txBody>
      </p:sp>
    </p:spTree>
    <p:extLst>
      <p:ext uri="{BB962C8B-B14F-4D97-AF65-F5344CB8AC3E}">
        <p14:creationId xmlns:p14="http://schemas.microsoft.com/office/powerpoint/2010/main" val="1597342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E4F90A-F177-475A-BCDA-C342B6AF19C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610600" y="2466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0A5FC-0037-4118-93A2-F5F962D7BD5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800725" y="2466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A2D8C-4CB0-4AB5-B306-6CF80E29304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90850" y="2466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9BE128-E0C0-41D6-95C5-CA531CF3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全周期任务分解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B70A40B6-9EDA-41D1-8EB4-3DEB2E69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MECE 统一分类维度，逻辑树展开行动，5W2H 补齐执行要素</a:t>
            </a:r>
          </a:p>
        </p:txBody>
      </p:sp>
      <p:sp>
        <p:nvSpPr>
          <p:cNvPr id="3" name="rect-31">
            <a:extLst xmlns:a="http://schemas.openxmlformats.org/drawingml/2006/main">
              <a:ext uri="{FF2B5EF4-FFF2-40B4-BE49-F238E27FC236}">
                <a16:creationId xmlns:a16="http://schemas.microsoft.com/office/drawing/2014/main" id="{70645E2C-1A16-4072-A177-8F9072C8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2">
            <a:extLst xmlns:a="http://schemas.openxmlformats.org/drawingml/2006/main">
              <a:ext uri="{FF2B5EF4-FFF2-40B4-BE49-F238E27FC236}">
                <a16:creationId xmlns:a16="http://schemas.microsoft.com/office/drawing/2014/main" id="{A4985C92-F31C-4CFA-9558-546A81E2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校园活动结构化策划与管控工作台</a:t>
            </a:r>
          </a:p>
        </p:txBody>
      </p:sp>
      <p:sp>
        <p:nvSpPr>
          <p:cNvPr id="5" name="text-33">
            <a:extLst xmlns:a="http://schemas.openxmlformats.org/drawingml/2006/main">
              <a:ext uri="{FF2B5EF4-FFF2-40B4-BE49-F238E27FC236}">
                <a16:creationId xmlns:a16="http://schemas.microsoft.com/office/drawing/2014/main" id="{BEB1898E-2EFE-4438-A9FE-CEF1B301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-34">
            <a:extLst xmlns:a="http://schemas.openxmlformats.org/drawingml/2006/main">
              <a:ext uri="{FF2B5EF4-FFF2-40B4-BE49-F238E27FC236}">
                <a16:creationId xmlns:a16="http://schemas.microsoft.com/office/drawing/2014/main" id="{AA025084-DFE3-4A09-8B0C-FB98C009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45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前期策划</a:t>
            </a:r>
          </a:p>
        </p:txBody>
      </p:sp>
      <p:sp>
        <p:nvSpPr>
          <p:cNvPr id="7" name="text-35">
            <a:extLst xmlns:a="http://schemas.openxmlformats.org/drawingml/2006/main">
              <a:ext uri="{FF2B5EF4-FFF2-40B4-BE49-F238E27FC236}">
                <a16:creationId xmlns:a16="http://schemas.microsoft.com/office/drawing/2014/main" id="{3491E03F-32C8-4A30-86A8-9673B500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2352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目标与约束</a:t>
            </a:r>
          </a:p>
          <a:p xmlns:a="http://schemas.openxmlformats.org/drawingml/2006/main">
            <a: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方案与预算</a:t>
            </a:r>
          </a:p>
        </p:txBody>
      </p:sp>
      <p:sp>
        <p:nvSpPr>
          <p:cNvPr id="8" name="rect-36">
            <a:extLst xmlns:a="http://schemas.openxmlformats.org/drawingml/2006/main">
              <a:ext uri="{FF2B5EF4-FFF2-40B4-BE49-F238E27FC236}">
                <a16:creationId xmlns:a16="http://schemas.microsoft.com/office/drawing/2014/main" id="{9A41A5EB-30CD-4C85-98A7-8AEFDFC4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37">
            <a:extLst xmlns:a="http://schemas.openxmlformats.org/drawingml/2006/main">
              <a:ext uri="{FF2B5EF4-FFF2-40B4-BE49-F238E27FC236}">
                <a16:creationId xmlns:a16="http://schemas.microsoft.com/office/drawing/2014/main" id="{1A392184-031B-48C4-8BD2-7BB812BC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代表成果</a:t>
            </a:r>
          </a:p>
        </p:txBody>
      </p:sp>
      <p:sp>
        <p:nvSpPr>
          <p:cNvPr id="10" name="text-38">
            <a:extLst xmlns:a="http://schemas.openxmlformats.org/drawingml/2006/main">
              <a:ext uri="{FF2B5EF4-FFF2-40B4-BE49-F238E27FC236}">
                <a16:creationId xmlns:a16="http://schemas.microsoft.com/office/drawing/2014/main" id="{2D6ADCA1-3B2D-4D05-91ED-F14757A5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2352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策划书、预算表</a:t>
            </a:r>
          </a:p>
        </p:txBody>
      </p:sp>
      <p:sp>
        <p:nvSpPr>
          <p:cNvPr id="11" name="rect-39">
            <a:extLst xmlns:a="http://schemas.openxmlformats.org/drawingml/2006/main">
              <a:ext uri="{FF2B5EF4-FFF2-40B4-BE49-F238E27FC236}">
                <a16:creationId xmlns:a16="http://schemas.microsoft.com/office/drawing/2014/main" id="{02242A1D-3D92-4B7C-966B-0490E17A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431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活动筹备</a:t>
            </a:r>
          </a:p>
        </p:txBody>
      </p:sp>
      <p:sp>
        <p:nvSpPr>
          <p:cNvPr id="12" name="text-40">
            <a:extLst xmlns:a="http://schemas.openxmlformats.org/drawingml/2006/main">
              <a:ext uri="{FF2B5EF4-FFF2-40B4-BE49-F238E27FC236}">
                <a16:creationId xmlns:a16="http://schemas.microsoft.com/office/drawing/2014/main" id="{DB572B92-8870-4256-A7CA-BE886AD4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2352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宣传与报名</a:t>
            </a:r>
          </a:p>
          <a:p xmlns:a="http://schemas.openxmlformats.org/drawingml/2006/main">
            <a: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场地物料与排班</a:t>
            </a:r>
          </a:p>
        </p:txBody>
      </p:sp>
      <p:sp>
        <p:nvSpPr>
          <p:cNvPr id="13" name="rect-41">
            <a:extLst xmlns:a="http://schemas.openxmlformats.org/drawingml/2006/main">
              <a:ext uri="{FF2B5EF4-FFF2-40B4-BE49-F238E27FC236}">
                <a16:creationId xmlns:a16="http://schemas.microsoft.com/office/drawing/2014/main" id="{D0D3FA4E-9980-48BB-A160-AE040E78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42">
            <a:extLst xmlns:a="http://schemas.openxmlformats.org/drawingml/2006/main">
              <a:ext uri="{FF2B5EF4-FFF2-40B4-BE49-F238E27FC236}">
                <a16:creationId xmlns:a16="http://schemas.microsoft.com/office/drawing/2014/main" id="{85512FED-0FEF-4B56-8AD0-A2C3506C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76725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代表成果</a:t>
            </a:r>
          </a:p>
        </p:txBody>
      </p:sp>
      <p:sp>
        <p:nvSpPr>
          <p:cNvPr id="15" name="text-43">
            <a:extLst xmlns:a="http://schemas.openxmlformats.org/drawingml/2006/main">
              <a:ext uri="{FF2B5EF4-FFF2-40B4-BE49-F238E27FC236}">
                <a16:creationId xmlns:a16="http://schemas.microsoft.com/office/drawing/2014/main" id="{4A958458-8503-4B50-85DD-E384C02B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57725"/>
            <a:ext cx="2352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宣传材料、应急预案</a:t>
            </a:r>
          </a:p>
        </p:txBody>
      </p:sp>
      <p:sp>
        <p:nvSpPr>
          <p:cNvPr id="16" name="rect-44">
            <a:extLst xmlns:a="http://schemas.openxmlformats.org/drawingml/2006/main">
              <a:ext uri="{FF2B5EF4-FFF2-40B4-BE49-F238E27FC236}">
                <a16:creationId xmlns:a16="http://schemas.microsoft.com/office/drawing/2014/main" id="{7CAC50F2-24DC-4FCB-AD15-4B737AD9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现场执行</a:t>
            </a:r>
          </a:p>
        </p:txBody>
      </p:sp>
      <p:sp>
        <p:nvSpPr>
          <p:cNvPr id="17" name="text-45">
            <a:extLst xmlns:a="http://schemas.openxmlformats.org/drawingml/2006/main">
              <a:ext uri="{FF2B5EF4-FFF2-40B4-BE49-F238E27FC236}">
                <a16:creationId xmlns:a16="http://schemas.microsoft.com/office/drawing/2014/main" id="{8A65C6D9-1B55-4B38-9B7A-D0D3D37B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38475"/>
            <a:ext cx="2352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岗位与班次</a:t>
            </a:r>
          </a:p>
          <a:p xmlns:a="http://schemas.openxmlformats.org/drawingml/2006/main">
            <a: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现场记录与处置</a:t>
            </a:r>
          </a:p>
        </p:txBody>
      </p:sp>
      <p:sp>
        <p:nvSpPr>
          <p:cNvPr id="18" name="rect-46">
            <a:extLst xmlns:a="http://schemas.openxmlformats.org/drawingml/2006/main">
              <a:ext uri="{FF2B5EF4-FFF2-40B4-BE49-F238E27FC236}">
                <a16:creationId xmlns:a16="http://schemas.microsoft.com/office/drawing/2014/main" id="{3F85FE40-C501-4808-98A7-D3DDC279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57650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47">
            <a:extLst xmlns:a="http://schemas.openxmlformats.org/drawingml/2006/main">
              <a:ext uri="{FF2B5EF4-FFF2-40B4-BE49-F238E27FC236}">
                <a16:creationId xmlns:a16="http://schemas.microsoft.com/office/drawing/2014/main" id="{9B0F17CE-875D-47C7-BED1-C4CA7E55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代表成果</a:t>
            </a:r>
          </a:p>
        </p:txBody>
      </p:sp>
      <p:sp>
        <p:nvSpPr>
          <p:cNvPr id="20" name="text-48">
            <a:extLst xmlns:a="http://schemas.openxmlformats.org/drawingml/2006/main">
              <a:ext uri="{FF2B5EF4-FFF2-40B4-BE49-F238E27FC236}">
                <a16:creationId xmlns:a16="http://schemas.microsoft.com/office/drawing/2014/main" id="{FFB80EB7-26E7-4A2F-A21B-BE6C67E3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57725"/>
            <a:ext cx="2352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执行手册、现场记录</a:t>
            </a:r>
          </a:p>
        </p:txBody>
      </p:sp>
      <p:sp>
        <p:nvSpPr>
          <p:cNvPr id="21" name="rect-49">
            <a:extLst xmlns:a="http://schemas.openxmlformats.org/drawingml/2006/main">
              <a:ext uri="{FF2B5EF4-FFF2-40B4-BE49-F238E27FC236}">
                <a16:creationId xmlns:a16="http://schemas.microsoft.com/office/drawing/2014/main" id="{87F7E2E2-389A-4425-AB43-FB0F851A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431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活动收尾</a:t>
            </a:r>
          </a:p>
        </p:txBody>
      </p:sp>
      <p:sp>
        <p:nvSpPr>
          <p:cNvPr id="22" name="text-50">
            <a:extLst xmlns:a="http://schemas.openxmlformats.org/drawingml/2006/main">
              <a:ext uri="{FF2B5EF4-FFF2-40B4-BE49-F238E27FC236}">
                <a16:creationId xmlns:a16="http://schemas.microsoft.com/office/drawing/2014/main" id="{B7501C80-EC93-4EB6-B083-3317C829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38475"/>
            <a:ext cx="2352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费用与物资核对</a:t>
            </a:r>
          </a:p>
          <a:p xmlns:a="http://schemas.openxmlformats.org/drawingml/2006/main">
            <a:pPr algn="l">
              <a:def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复盘与资料归档</a:t>
            </a:r>
          </a:p>
        </p:txBody>
      </p:sp>
      <p:sp>
        <p:nvSpPr>
          <p:cNvPr id="23" name="rect-51">
            <a:extLst xmlns:a="http://schemas.openxmlformats.org/drawingml/2006/main">
              <a:ext uri="{FF2B5EF4-FFF2-40B4-BE49-F238E27FC236}">
                <a16:creationId xmlns:a16="http://schemas.microsoft.com/office/drawing/2014/main" id="{2258FA47-D831-4D69-B03E-7402B68E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57650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52">
            <a:extLst xmlns:a="http://schemas.openxmlformats.org/drawingml/2006/main">
              <a:ext uri="{FF2B5EF4-FFF2-40B4-BE49-F238E27FC236}">
                <a16:creationId xmlns:a16="http://schemas.microsoft.com/office/drawing/2014/main" id="{85D142CB-B8EC-4904-9F25-5511BDED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76725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代表成果</a:t>
            </a:r>
          </a:p>
        </p:txBody>
      </p:sp>
      <p:sp>
        <p:nvSpPr>
          <p:cNvPr id="25" name="text-53">
            <a:extLst xmlns:a="http://schemas.openxmlformats.org/drawingml/2006/main">
              <a:ext uri="{FF2B5EF4-FFF2-40B4-BE49-F238E27FC236}">
                <a16:creationId xmlns:a16="http://schemas.microsoft.com/office/drawing/2014/main" id="{1318E37C-9A32-4405-881A-F17BA648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57725"/>
            <a:ext cx="2352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决算、复盘、归档</a:t>
            </a:r>
          </a:p>
        </p:txBody>
      </p:sp>
      <p:sp>
        <p:nvSpPr>
          <p:cNvPr id="29" name="text-54">
            <a:extLst xmlns:a="http://schemas.openxmlformats.org/drawingml/2006/main">
              <a:ext uri="{FF2B5EF4-FFF2-40B4-BE49-F238E27FC236}">
                <a16:creationId xmlns:a16="http://schemas.microsoft.com/office/drawing/2014/main" id="{D352204D-F21E-4BD2-84D9-13F1829B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任务分解的尺度：明确负责人、执行动作和完成证据</a:t>
            </a:r>
          </a:p>
        </p:txBody>
      </p:sp>
    </p:spTree>
    <p:extLst>
      <p:ext uri="{BB962C8B-B14F-4D97-AF65-F5344CB8AC3E}">
        <p14:creationId xmlns:p14="http://schemas.microsoft.com/office/powerpoint/2010/main" val="21168505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27A0D4-BB8C-4D0D-9B79-6A474AA3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项目、人员与资源管理</a:t>
            </a:r>
          </a:p>
        </p:txBody>
      </p:sp>
      <p:sp>
        <p:nvSpPr>
          <p:cNvPr id="2" name="text-55">
            <a:extLst xmlns:a="http://schemas.openxmlformats.org/drawingml/2006/main">
              <a:ext uri="{FF2B5EF4-FFF2-40B4-BE49-F238E27FC236}">
                <a16:creationId xmlns:a16="http://schemas.microsoft.com/office/drawing/2014/main" id="{756027BC-FAC6-44B3-8E3E-29388A8E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登录进入项目库，活动事实统一维护，任务关联人员与资源</a:t>
            </a:r>
          </a:p>
        </p:txBody>
      </p:sp>
      <p:sp>
        <p:nvSpPr>
          <p:cNvPr id="3" name="rect-56">
            <a:extLst xmlns:a="http://schemas.openxmlformats.org/drawingml/2006/main">
              <a:ext uri="{FF2B5EF4-FFF2-40B4-BE49-F238E27FC236}">
                <a16:creationId xmlns:a16="http://schemas.microsoft.com/office/drawing/2014/main" id="{4AFE5FC6-5745-4868-AA7C-55B87B45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7">
            <a:extLst xmlns:a="http://schemas.openxmlformats.org/drawingml/2006/main">
              <a:ext uri="{FF2B5EF4-FFF2-40B4-BE49-F238E27FC236}">
                <a16:creationId xmlns:a16="http://schemas.microsoft.com/office/drawing/2014/main" id="{F631A416-A608-4D5E-90CF-46AF7B8E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校园活动结构化策划与管控工作台</a:t>
            </a:r>
          </a:p>
        </p:txBody>
      </p:sp>
      <p:sp>
        <p:nvSpPr>
          <p:cNvPr id="5" name="text-58">
            <a:extLst xmlns:a="http://schemas.openxmlformats.org/drawingml/2006/main">
              <a:ext uri="{FF2B5EF4-FFF2-40B4-BE49-F238E27FC236}">
                <a16:creationId xmlns:a16="http://schemas.microsoft.com/office/drawing/2014/main" id="{D732C479-65AB-49C8-90FE-1AFDF9AF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-59">
            <a:extLst xmlns:a="http://schemas.openxmlformats.org/drawingml/2006/main">
              <a:ext uri="{FF2B5EF4-FFF2-40B4-BE49-F238E27FC236}">
                <a16:creationId xmlns:a16="http://schemas.microsoft.com/office/drawing/2014/main" id="{6088DD13-9273-41FE-8FCD-D4590430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75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从任务安排人员与班次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37604-5952-4C75-8454-184A1C70BA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963bdd7fa436f"/>
          <a:stretch xmlns:a="http://schemas.openxmlformats.org/drawingml/2006/main"/>
        </p:blipFill>
        <p:spPr>
          <a:xfrm xmlns:a="http://schemas.openxmlformats.org/drawingml/2006/main">
            <a:off x="609600" y="2229524"/>
            <a:ext cx="7772400" cy="2132251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367DA-1D81-4DBD-AB92-CA48E8305D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9e4764c564001"/>
          <a:stretch xmlns:a="http://schemas.openxmlformats.org/drawingml/2006/main"/>
        </p:blipFill>
        <p:spPr>
          <a:xfrm xmlns:a="http://schemas.openxmlformats.org/drawingml/2006/main">
            <a:off x="609600" y="4687682"/>
            <a:ext cx="7772400" cy="873535"/>
          </a:xfrm>
          <a:prstGeom xmlns:a="http://schemas.openxmlformats.org/drawingml/2006/main" prst="rect">
            <a:avLst/>
          </a:prstGeom>
        </p:spPr>
      </p:pic>
      <p:sp>
        <p:nvSpPr>
          <p:cNvPr id="9" name="text-60">
            <a:extLst xmlns:a="http://schemas.openxmlformats.org/drawingml/2006/main">
              <a:ext uri="{FF2B5EF4-FFF2-40B4-BE49-F238E27FC236}">
                <a16:creationId xmlns:a16="http://schemas.microsoft.com/office/drawing/2014/main" id="{CE7372CF-CA77-45AE-A0AD-2273D7A7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764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实名责任</a:t>
            </a:r>
          </a:p>
        </p:txBody>
      </p:sp>
      <p:sp>
        <p:nvSpPr>
          <p:cNvPr id="10" name="text-61">
            <a:extLst xmlns:a="http://schemas.openxmlformats.org/drawingml/2006/main">
              <a:ext uri="{FF2B5EF4-FFF2-40B4-BE49-F238E27FC236}">
                <a16:creationId xmlns:a16="http://schemas.microsoft.com/office/drawing/2014/main" id="{111AAD8D-437D-4E9A-9DFF-0293E97D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任务详情选择责任人</a:t>
            </a:r>
          </a:p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岗位要求独立保留</a:t>
            </a:r>
          </a:p>
        </p:txBody>
      </p:sp>
      <p:sp>
        <p:nvSpPr>
          <p:cNvPr id="11" name="text-62">
            <a:extLst xmlns:a="http://schemas.openxmlformats.org/drawingml/2006/main">
              <a:ext uri="{FF2B5EF4-FFF2-40B4-BE49-F238E27FC236}">
                <a16:creationId xmlns:a16="http://schemas.microsoft.com/office/drawing/2014/main" id="{C257B1C9-EB75-40F4-9B2E-8219CEBC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337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多人轮班</a:t>
            </a:r>
          </a:p>
        </p:txBody>
      </p:sp>
      <p:sp>
        <p:nvSpPr>
          <p:cNvPr id="12" name="text-63">
            <a:extLst xmlns:a="http://schemas.openxmlformats.org/drawingml/2006/main">
              <a:ext uri="{FF2B5EF4-FFF2-40B4-BE49-F238E27FC236}">
                <a16:creationId xmlns:a16="http://schemas.microsoft.com/office/drawing/2014/main" id="{C129A6E9-AFB5-4EB5-8348-FA4B4A0F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90925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同一任务安排多名人员</a:t>
            </a:r>
          </a:p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各自接受、打卡与报告</a:t>
            </a:r>
          </a:p>
        </p:txBody>
      </p:sp>
      <p:sp>
        <p:nvSpPr>
          <p:cNvPr id="13" name="text-64">
            <a:extLst xmlns:a="http://schemas.openxmlformats.org/drawingml/2006/main">
              <a:ext uri="{FF2B5EF4-FFF2-40B4-BE49-F238E27FC236}">
                <a16:creationId xmlns:a16="http://schemas.microsoft.com/office/drawing/2014/main" id="{D4D6BFC4-D4E0-4CD3-9FBC-88814049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910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资源保障</a:t>
            </a:r>
          </a:p>
        </p:txBody>
      </p:sp>
      <p:sp>
        <p:nvSpPr>
          <p:cNvPr id="14" name="text-65">
            <a:extLst xmlns:a="http://schemas.openxmlformats.org/drawingml/2006/main">
              <a:ext uri="{FF2B5EF4-FFF2-40B4-BE49-F238E27FC236}">
                <a16:creationId xmlns:a16="http://schemas.microsoft.com/office/drawing/2014/main" id="{4D612145-8A1E-42C0-B252-866FE23E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48225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按时段校验人员冲突</a:t>
            </a:r>
          </a:p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检查库存与资源预留</a:t>
            </a:r>
          </a:p>
        </p:txBody>
      </p:sp>
      <p:sp>
        <p:nvSpPr>
          <p:cNvPr id="15" name="text-66">
            <a:extLst xmlns:a="http://schemas.openxmlformats.org/drawingml/2006/main">
              <a:ext uri="{FF2B5EF4-FFF2-40B4-BE49-F238E27FC236}">
                <a16:creationId xmlns:a16="http://schemas.microsoft.com/office/drawing/2014/main" id="{00048497-1BE7-4805-BAE7-22699D76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5W2H 落实到任务、责任、时间地点与资源字段</a:t>
            </a:r>
          </a:p>
        </p:txBody>
      </p:sp>
    </p:spTree>
    <p:extLst>
      <p:ext uri="{BB962C8B-B14F-4D97-AF65-F5344CB8AC3E}">
        <p14:creationId xmlns:p14="http://schemas.microsoft.com/office/powerpoint/2010/main" val="671045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48F11D-D253-4EFB-9B47-4D89D45F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AI 材料生产与人工核验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5E64DEFC-B028-4EA2-8128-E3A70959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引用项目事实与资料，按技能包生成草稿，再编辑、确认和导出</a:t>
            </a:r>
          </a:p>
        </p:txBody>
      </p:sp>
      <p:sp>
        <p:nvSpPr>
          <p:cNvPr id="3" name="rect-68">
            <a:extLst xmlns:a="http://schemas.openxmlformats.org/drawingml/2006/main">
              <a:ext uri="{FF2B5EF4-FFF2-40B4-BE49-F238E27FC236}">
                <a16:creationId xmlns:a16="http://schemas.microsoft.com/office/drawing/2014/main" id="{F4FA0F30-362E-4A10-BB4B-353BE257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9">
            <a:extLst xmlns:a="http://schemas.openxmlformats.org/drawingml/2006/main">
              <a:ext uri="{FF2B5EF4-FFF2-40B4-BE49-F238E27FC236}">
                <a16:creationId xmlns:a16="http://schemas.microsoft.com/office/drawing/2014/main" id="{16060BE5-F7C6-47D6-9364-DFDF7153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校园活动结构化策划与管控工作台</a:t>
            </a:r>
          </a:p>
        </p:txBody>
      </p:sp>
      <p:sp>
        <p:nvSpPr>
          <p:cNvPr id="5" name="text-70">
            <a:extLst xmlns:a="http://schemas.openxmlformats.org/drawingml/2006/main">
              <a:ext uri="{FF2B5EF4-FFF2-40B4-BE49-F238E27FC236}">
                <a16:creationId xmlns:a16="http://schemas.microsoft.com/office/drawing/2014/main" id="{76AAA7AB-2A32-44F8-9B74-549139A4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08CF5-4750-4AAD-86E1-7301ED9A24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793f13a8b4f82"/>
          <a:stretch xmlns:a="http://schemas.openxmlformats.org/drawingml/2006/main"/>
        </p:blipFill>
        <p:spPr>
          <a:xfrm xmlns:a="http://schemas.openxmlformats.org/drawingml/2006/main">
            <a:off x="609600" y="1973594"/>
            <a:ext cx="8248650" cy="313941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48381-CC22-45B0-8218-5AFD547C9B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0828cf2794c98"/>
          <a:stretch xmlns:a="http://schemas.openxmlformats.org/drawingml/2006/main"/>
        </p:blipFill>
        <p:spPr>
          <a:xfrm xmlns:a="http://schemas.openxmlformats.org/drawingml/2006/main">
            <a:off x="9420225" y="1704975"/>
            <a:ext cx="2076450" cy="3114675"/>
          </a:xfrm>
          <a:prstGeom xmlns:a="http://schemas.openxmlformats.org/drawingml/2006/main" prst="rect">
            <a:avLst/>
          </a:prstGeom>
        </p:spPr>
      </p:pic>
      <p:sp>
        <p:nvSpPr>
          <p:cNvPr id="8" name="text-71">
            <a:extLst xmlns:a="http://schemas.openxmlformats.org/drawingml/2006/main">
              <a:ext uri="{FF2B5EF4-FFF2-40B4-BE49-F238E27FC236}">
                <a16:creationId xmlns:a16="http://schemas.microsoft.com/office/drawing/2014/main" id="{9AAC9C17-B219-436F-873A-3E6B4F5E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8124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卡片依赖组织材料生成顺序</a:t>
            </a:r>
          </a:p>
        </p:txBody>
      </p:sp>
      <p:sp>
        <p:nvSpPr>
          <p:cNvPr id="9" name="text-72">
            <a:extLst xmlns:a="http://schemas.openxmlformats.org/drawingml/2006/main">
              <a:ext uri="{FF2B5EF4-FFF2-40B4-BE49-F238E27FC236}">
                <a16:creationId xmlns:a16="http://schemas.microsoft.com/office/drawing/2014/main" id="{D7A752F5-2C62-431F-8171-0F1B75D1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292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GPT-image2 宣传海报</a:t>
            </a:r>
          </a:p>
        </p:txBody>
      </p:sp>
      <p:sp>
        <p:nvSpPr>
          <p:cNvPr id="10" name="text-73">
            <a:extLst xmlns:a="http://schemas.openxmlformats.org/drawingml/2006/main">
              <a:ext uri="{FF2B5EF4-FFF2-40B4-BE49-F238E27FC236}">
                <a16:creationId xmlns:a16="http://schemas.microsoft.com/office/drawing/2014/main" id="{C7B4DC43-04CA-44A5-9976-D9F05EC5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8543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DeepSeek 辅助文字生成，人工核对事实与执行条件</a:t>
            </a:r>
          </a:p>
        </p:txBody>
      </p:sp>
      <p:sp>
        <p:nvSpPr>
          <p:cNvPr id="11" name="text-74">
            <a:extLst xmlns:a="http://schemas.openxmlformats.org/drawingml/2006/main">
              <a:ext uri="{FF2B5EF4-FFF2-40B4-BE49-F238E27FC236}">
                <a16:creationId xmlns:a16="http://schemas.microsoft.com/office/drawing/2014/main" id="{669F4577-5CB7-40F6-B76E-01320F32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ALIGN 限定依据与成果，RTGO 约束单项任务</a:t>
            </a:r>
          </a:p>
        </p:txBody>
      </p:sp>
    </p:spTree>
    <p:extLst>
      <p:ext uri="{BB962C8B-B14F-4D97-AF65-F5344CB8AC3E}">
        <p14:creationId xmlns:p14="http://schemas.microsoft.com/office/powerpoint/2010/main" val="239093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24A81-5593-4A77-AECE-739A2061D34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01075" y="40338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362FA-AE65-4F12-9126-A376E7EDDCA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00725" y="40338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ADF4B-6721-421A-A9FD-395CD772EA8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00375" y="40338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2C2BC1-2C59-4D45-8513-C64F12F1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风险分级与应急行动</a:t>
            </a:r>
          </a:p>
        </p:txBody>
      </p:sp>
      <p:sp>
        <p:nvSpPr>
          <p:cNvPr id="2" name="text-75">
            <a:extLst xmlns:a="http://schemas.openxmlformats.org/drawingml/2006/main">
              <a:ext uri="{FF2B5EF4-FFF2-40B4-BE49-F238E27FC236}">
                <a16:creationId xmlns:a16="http://schemas.microsoft.com/office/drawing/2014/main" id="{B1A828F0-41F5-460F-8A90-9EC3315D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示例项目：恶劣天气中断户外环节</a:t>
            </a:r>
          </a:p>
        </p:txBody>
      </p:sp>
      <p:sp>
        <p:nvSpPr>
          <p:cNvPr id="3" name="rect-76">
            <a:extLst xmlns:a="http://schemas.openxmlformats.org/drawingml/2006/main">
              <a:ext uri="{FF2B5EF4-FFF2-40B4-BE49-F238E27FC236}">
                <a16:creationId xmlns:a16="http://schemas.microsoft.com/office/drawing/2014/main" id="{43732580-EDCE-4D0C-8274-BE5C3C26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77">
            <a:extLst xmlns:a="http://schemas.openxmlformats.org/drawingml/2006/main">
              <a:ext uri="{FF2B5EF4-FFF2-40B4-BE49-F238E27FC236}">
                <a16:creationId xmlns:a16="http://schemas.microsoft.com/office/drawing/2014/main" id="{4843C110-D6DA-48C4-8189-68649494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校园活动结构化策划与管控工作台</a:t>
            </a:r>
          </a:p>
        </p:txBody>
      </p:sp>
      <p:sp>
        <p:nvSpPr>
          <p:cNvPr id="5" name="text-78">
            <a:extLst xmlns:a="http://schemas.openxmlformats.org/drawingml/2006/main">
              <a:ext uri="{FF2B5EF4-FFF2-40B4-BE49-F238E27FC236}">
                <a16:creationId xmlns:a16="http://schemas.microsoft.com/office/drawing/2014/main" id="{369235AD-483D-4D3F-834F-F052D3EB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79">
            <a:extLst xmlns:a="http://schemas.openxmlformats.org/drawingml/2006/main">
              <a:ext uri="{FF2B5EF4-FFF2-40B4-BE49-F238E27FC236}">
                <a16:creationId xmlns:a16="http://schemas.microsoft.com/office/drawing/2014/main" id="{3B0EACFB-1C18-4863-B7B1-B512BBCF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4400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4 × 4 = 16</a:t>
            </a:r>
          </a:p>
        </p:txBody>
      </p:sp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784FBE24-A79F-4C24-8271-B303A14C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479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可能性 × 影响 = 风险评分</a:t>
            </a:r>
          </a:p>
        </p:txBody>
      </p:sp>
      <p:sp>
        <p:nvSpPr>
          <p:cNvPr id="8" name="text-81">
            <a:extLst xmlns:a="http://schemas.openxmlformats.org/drawingml/2006/main">
              <a:ext uri="{FF2B5EF4-FFF2-40B4-BE49-F238E27FC236}">
                <a16:creationId xmlns:a16="http://schemas.microsoft.com/office/drawing/2014/main" id="{F3195C8B-8AE9-4C47-A239-43E009A8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14675"/>
            <a:ext cx="642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触发：天气导致户外展区无法开放</a:t>
            </a:r>
          </a:p>
        </p:txBody>
      </p:sp>
      <p:sp>
        <p:nvSpPr>
          <p:cNvPr id="9" name="text-82">
            <a:extLst xmlns:a="http://schemas.openxmlformats.org/drawingml/2006/main">
              <a:ext uri="{FF2B5EF4-FFF2-40B4-BE49-F238E27FC236}">
                <a16:creationId xmlns:a16="http://schemas.microsoft.com/office/drawing/2014/main" id="{AE9E7A66-4387-45A6-B9DB-327364F7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0025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1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8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A8413B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A7F64-FE3B-4777-A247-D872320750D3}"/>
              </a:ext>
            </a:extLst>
          </p:cNvPr>
          <p:cNvGraphicFramePr/>
          <p:nvPr/>
        </p:nvGraphicFramePr>
        <p:xfrm>
          <a:off xmlns:a="http://schemas.openxmlformats.org/drawingml/2006/main" x="7239000" y="1714500"/>
          <a:ext xmlns:a="http://schemas.openxmlformats.org/drawingml/2006/main" cx="4324350" cy="1409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38250"/>
                <a:gridCol w="1095375"/>
                <a:gridCol w="1990725"/>
              </a:tblGrid>
              <a:tr h="333375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分值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响应原则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</a:tr>
              <a:tr h="36195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低风险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1–7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跟踪记录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  <a:tr h="36195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中风险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8–14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责任人处置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高风险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15–25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总协调介入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11" name="rect-83">
            <a:extLst xmlns:a="http://schemas.openxmlformats.org/drawingml/2006/main">
              <a:ext uri="{FF2B5EF4-FFF2-40B4-BE49-F238E27FC236}">
                <a16:creationId xmlns:a16="http://schemas.microsoft.com/office/drawing/2014/main" id="{5911503E-0DF7-4FC7-928C-3FF2587E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23907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识别</a:t>
            </a:r>
          </a:p>
        </p:txBody>
      </p:sp>
      <p:sp>
        <p:nvSpPr>
          <p:cNvPr id="12" name="text-84">
            <a:extLst xmlns:a="http://schemas.openxmlformats.org/drawingml/2006/main">
              <a:ext uri="{FF2B5EF4-FFF2-40B4-BE49-F238E27FC236}">
                <a16:creationId xmlns:a16="http://schemas.microsoft.com/office/drawing/2014/main" id="{9563D88E-275D-468D-B95D-D3AED1C1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5050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恶劣天气影响户外环节</a:t>
            </a:r>
          </a:p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关联场地与设备任务</a:t>
            </a:r>
          </a:p>
        </p:txBody>
      </p:sp>
      <p:sp>
        <p:nvSpPr>
          <p:cNvPr id="13" name="rect-85">
            <a:extLst xmlns:a="http://schemas.openxmlformats.org/drawingml/2006/main">
              <a:ext uri="{FF2B5EF4-FFF2-40B4-BE49-F238E27FC236}">
                <a16:creationId xmlns:a16="http://schemas.microsoft.com/office/drawing/2014/main" id="{70B8A1E0-1C5F-4776-8C3C-D1A43076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43325"/>
            <a:ext cx="23907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14" name="text-86">
            <a:extLst xmlns:a="http://schemas.openxmlformats.org/drawingml/2006/main">
              <a:ext uri="{FF2B5EF4-FFF2-40B4-BE49-F238E27FC236}">
                <a16:creationId xmlns:a16="http://schemas.microsoft.com/office/drawing/2014/main" id="{DFCBF932-31CD-4ED3-899F-AD8FAF9F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52950"/>
            <a:ext cx="25050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提前跟踪天气</a:t>
            </a:r>
          </a:p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备用场地与搬运</a:t>
            </a:r>
          </a:p>
        </p:txBody>
      </p:sp>
      <p:sp>
        <p:nvSpPr>
          <p:cNvPr id="15" name="rect-87">
            <a:extLst xmlns:a="http://schemas.openxmlformats.org/drawingml/2006/main">
              <a:ext uri="{FF2B5EF4-FFF2-40B4-BE49-F238E27FC236}">
                <a16:creationId xmlns:a16="http://schemas.microsoft.com/office/drawing/2014/main" id="{D821DB70-F40D-4CD4-8CC3-876B1BD9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43325"/>
            <a:ext cx="23907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45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</a:t>
            </a:r>
          </a:p>
        </p:txBody>
      </p:sp>
      <p:sp>
        <p:nvSpPr>
          <p:cNvPr id="16" name="text-88">
            <a:extLst xmlns:a="http://schemas.openxmlformats.org/drawingml/2006/main">
              <a:ext uri="{FF2B5EF4-FFF2-40B4-BE49-F238E27FC236}">
                <a16:creationId xmlns:a16="http://schemas.microsoft.com/office/drawing/2014/main" id="{216C1E33-8CFC-4D69-B004-DC1D265E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52950"/>
            <a:ext cx="25050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总协调决定转场</a:t>
            </a:r>
          </a:p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宣传、后勤、引导</a:t>
            </a:r>
          </a:p>
        </p:txBody>
      </p:sp>
      <p:sp>
        <p:nvSpPr>
          <p:cNvPr id="17" name="rect-89">
            <a:extLst xmlns:a="http://schemas.openxmlformats.org/drawingml/2006/main">
              <a:ext uri="{FF2B5EF4-FFF2-40B4-BE49-F238E27FC236}">
                <a16:creationId xmlns:a16="http://schemas.microsoft.com/office/drawing/2014/main" id="{4CD091B7-1F59-48A0-82DF-5C03CF05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43325"/>
            <a:ext cx="23907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升级与复核</a:t>
            </a:r>
          </a:p>
        </p:txBody>
      </p:sp>
      <p:sp>
        <p:nvSpPr>
          <p:cNvPr id="18" name="text-90">
            <a:extLst xmlns:a="http://schemas.openxmlformats.org/drawingml/2006/main">
              <a:ext uri="{FF2B5EF4-FFF2-40B4-BE49-F238E27FC236}">
                <a16:creationId xmlns:a16="http://schemas.microsoft.com/office/drawing/2014/main" id="{704C5385-E833-4C99-BFAB-69123C77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25050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安全风险按高档处置</a:t>
            </a:r>
          </a:p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核对场地、通知和动线</a:t>
            </a:r>
          </a:p>
        </p:txBody>
      </p:sp>
      <p:sp>
        <p:nvSpPr>
          <p:cNvPr id="22" name="text-91">
            <a:extLst xmlns:a="http://schemas.openxmlformats.org/drawingml/2006/main">
              <a:ext uri="{FF2B5EF4-FFF2-40B4-BE49-F238E27FC236}">
                <a16:creationId xmlns:a16="http://schemas.microsoft.com/office/drawing/2014/main" id="{C36B606E-8CF4-481F-BDB4-586B04BF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PDCA：预案、演练、复核与修订均保留处理依据</a:t>
            </a:r>
          </a:p>
        </p:txBody>
      </p:sp>
    </p:spTree>
    <p:extLst>
      <p:ext uri="{BB962C8B-B14F-4D97-AF65-F5344CB8AC3E}">
        <p14:creationId xmlns:p14="http://schemas.microsoft.com/office/powerpoint/2010/main" val="1638304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36DC6-E02C-40C2-BF7E-A66B51D85DA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01075" y="5514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4616E-8C4D-4667-9A08-A1326A1BF9C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00725" y="5514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9576D-B952-49C8-8234-0C372F9B1DF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00375" y="5514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2B476D-8B6B-4076-86F6-4825E089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任务交付、验收与活动收尾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2C545147-7814-4BD6-97B8-C6EB7FFA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班次结束后，整项任务仍需提交材料版本并由组织者验收</a:t>
            </a:r>
          </a:p>
        </p:txBody>
      </p:sp>
      <p:sp>
        <p:nvSpPr>
          <p:cNvPr id="3" name="rect-93">
            <a:extLst xmlns:a="http://schemas.openxmlformats.org/drawingml/2006/main">
              <a:ext uri="{FF2B5EF4-FFF2-40B4-BE49-F238E27FC236}">
                <a16:creationId xmlns:a16="http://schemas.microsoft.com/office/drawing/2014/main" id="{984D85C0-52D3-4910-A065-08F9FBD1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94">
            <a:extLst xmlns:a="http://schemas.openxmlformats.org/drawingml/2006/main">
              <a:ext uri="{FF2B5EF4-FFF2-40B4-BE49-F238E27FC236}">
                <a16:creationId xmlns:a16="http://schemas.microsoft.com/office/drawing/2014/main" id="{069AD275-45A9-4A5A-A936-F929C19C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校园活动结构化策划与管控工作台</a:t>
            </a:r>
          </a:p>
        </p:txBody>
      </p:sp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0193F610-04AD-4B68-987B-D464A552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AC747-8D41-4BED-BCD5-F7F8629ED1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7a525a1c846fa"/>
          <a:stretch xmlns:a="http://schemas.openxmlformats.org/drawingml/2006/main"/>
        </p:blipFill>
        <p:spPr>
          <a:xfrm xmlns:a="http://schemas.openxmlformats.org/drawingml/2006/main">
            <a:off x="609600" y="1895944"/>
            <a:ext cx="7286625" cy="1065863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87F03-CCDC-4414-8394-BA57D9B4E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7136a53bd4972"/>
          <a:stretch xmlns:a="http://schemas.openxmlformats.org/drawingml/2006/main"/>
        </p:blipFill>
        <p:spPr>
          <a:xfrm xmlns:a="http://schemas.openxmlformats.org/drawingml/2006/main">
            <a:off x="924765" y="3114675"/>
            <a:ext cx="6656294" cy="1885950"/>
          </a:xfrm>
          <a:prstGeom xmlns:a="http://schemas.openxmlformats.org/drawingml/2006/main" prst="rect">
            <a:avLst/>
          </a:prstGeom>
        </p:spPr>
      </p:pic>
      <p:sp>
        <p:nvSpPr>
          <p:cNvPr id="8" name="text-96">
            <a:extLst xmlns:a="http://schemas.openxmlformats.org/drawingml/2006/main">
              <a:ext uri="{FF2B5EF4-FFF2-40B4-BE49-F238E27FC236}">
                <a16:creationId xmlns:a16="http://schemas.microsoft.com/office/drawing/2014/main" id="{29AA258F-DB70-42CB-A028-6BA2FC11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85950"/>
            <a:ext cx="291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过程与成果分别核对</a:t>
            </a:r>
          </a:p>
        </p:txBody>
      </p:sp>
      <p:sp>
        <p:nvSpPr>
          <p:cNvPr id="9" name="text-97">
            <a:extLst xmlns:a="http://schemas.openxmlformats.org/drawingml/2006/main">
              <a:ext uri="{FF2B5EF4-FFF2-40B4-BE49-F238E27FC236}">
                <a16:creationId xmlns:a16="http://schemas.microsoft.com/office/drawing/2014/main" id="{DD1C6149-DFD9-4650-932E-246CD73A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19350"/>
            <a:ext cx="28860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班次记录执行过程</a:t>
            </a:r>
          </a:p>
          <a:p xmlns:a="http://schemas.openxmlformats.org/drawingml/2006/main">
            <a: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交付版本固定成果</a:t>
            </a:r>
          </a:p>
          <a:p xmlns:a="http://schemas.openxmlformats.org/drawingml/2006/main">
            <a: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验收引用原提交版本</a:t>
            </a:r>
          </a:p>
        </p:txBody>
      </p:sp>
      <p:sp>
        <p:nvSpPr>
          <p:cNvPr id="10" name="text-98">
            <a:extLst xmlns:a="http://schemas.openxmlformats.org/drawingml/2006/main">
              <a:ext uri="{FF2B5EF4-FFF2-40B4-BE49-F238E27FC236}">
                <a16:creationId xmlns:a16="http://schemas.microsoft.com/office/drawing/2014/main" id="{21F266B1-A40D-47F8-92D7-8AE3B24C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95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收尾成果</a:t>
            </a:r>
          </a:p>
        </p:txBody>
      </p:sp>
      <p:sp>
        <p:nvSpPr>
          <p:cNvPr id="11" name="text-99">
            <a:extLst xmlns:a="http://schemas.openxmlformats.org/drawingml/2006/main">
              <a:ext uri="{FF2B5EF4-FFF2-40B4-BE49-F238E27FC236}">
                <a16:creationId xmlns:a16="http://schemas.microsoft.com/office/drawing/2014/main" id="{86B0C3F5-2D48-4750-8A6B-496DB0AA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43425"/>
            <a:ext cx="2876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复盘报告、决算表</a:t>
            </a:r>
          </a:p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资料归档与项目包</a:t>
            </a:r>
          </a:p>
        </p:txBody>
      </p:sp>
      <p:sp>
        <p:nvSpPr>
          <p:cNvPr id="12" name="rect-100">
            <a:extLst xmlns:a="http://schemas.openxmlformats.org/drawingml/2006/main">
              <a:ext uri="{FF2B5EF4-FFF2-40B4-BE49-F238E27FC236}">
                <a16:creationId xmlns:a16="http://schemas.microsoft.com/office/drawing/2014/main" id="{A8A9B6A6-9118-4603-8BE4-C1541E74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390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确认材料版本</a:t>
            </a:r>
          </a:p>
        </p:txBody>
      </p:sp>
      <p:sp>
        <p:nvSpPr>
          <p:cNvPr id="13" name="rect-101">
            <a:extLst xmlns:a="http://schemas.openxmlformats.org/drawingml/2006/main">
              <a:ext uri="{FF2B5EF4-FFF2-40B4-BE49-F238E27FC236}">
                <a16:creationId xmlns:a16="http://schemas.microsoft.com/office/drawing/2014/main" id="{1D5F7278-50D0-4A1D-AD86-29436CE9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57800"/>
            <a:ext cx="2390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提交任务交付</a:t>
            </a:r>
          </a:p>
        </p:txBody>
      </p:sp>
      <p:sp>
        <p:nvSpPr>
          <p:cNvPr id="14" name="rect-102">
            <a:extLst xmlns:a="http://schemas.openxmlformats.org/drawingml/2006/main">
              <a:ext uri="{FF2B5EF4-FFF2-40B4-BE49-F238E27FC236}">
                <a16:creationId xmlns:a16="http://schemas.microsoft.com/office/drawing/2014/main" id="{AE9FAE3A-E1EB-433B-ACA5-DF2B994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390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45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组织者验收</a:t>
            </a:r>
          </a:p>
        </p:txBody>
      </p:sp>
      <p:sp>
        <p:nvSpPr>
          <p:cNvPr id="15" name="rect-103">
            <a:extLst xmlns:a="http://schemas.openxmlformats.org/drawingml/2006/main">
              <a:ext uri="{FF2B5EF4-FFF2-40B4-BE49-F238E27FC236}">
                <a16:creationId xmlns:a16="http://schemas.microsoft.com/office/drawing/2014/main" id="{885A8657-F72A-4974-964C-68DA9A53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57800"/>
            <a:ext cx="2390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收尾归档</a:t>
            </a:r>
          </a:p>
        </p:txBody>
      </p:sp>
      <p:sp>
        <p:nvSpPr>
          <p:cNvPr id="19" name="text-104">
            <a:extLst xmlns:a="http://schemas.openxmlformats.org/drawingml/2006/main">
              <a:ext uri="{FF2B5EF4-FFF2-40B4-BE49-F238E27FC236}">
                <a16:creationId xmlns:a16="http://schemas.microsoft.com/office/drawing/2014/main" id="{70C1FD48-B45E-4AE6-AD1C-20A41C20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PDCA 以交付证据检查结果，验收通过或退回均有记录</a:t>
            </a:r>
          </a:p>
        </p:txBody>
      </p:sp>
    </p:spTree>
    <p:extLst>
      <p:ext uri="{BB962C8B-B14F-4D97-AF65-F5344CB8AC3E}">
        <p14:creationId xmlns:p14="http://schemas.microsoft.com/office/powerpoint/2010/main" val="1487298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05">
            <a:extLst xmlns:a="http://schemas.openxmlformats.org/drawingml/2006/main">
              <a:ext uri="{FF2B5EF4-FFF2-40B4-BE49-F238E27FC236}">
                <a16:creationId xmlns:a16="http://schemas.microsoft.com/office/drawing/2014/main" id="{AEAF2860-92C1-4D30-B298-5FA93325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验证结果与项目总结</a:t>
            </a:r>
          </a:p>
        </p:txBody>
      </p:sp>
      <p:sp>
        <p:nvSpPr>
          <p:cNvPr id="2" name="text-106">
            <a:extLst xmlns:a="http://schemas.openxmlformats.org/drawingml/2006/main">
              <a:ext uri="{FF2B5EF4-FFF2-40B4-BE49-F238E27FC236}">
                <a16:creationId xmlns:a16="http://schemas.microsoft.com/office/drawing/2014/main" id="{7A8AFBDC-7DDC-4CC2-AEE9-895B4E97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670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3" name="text-107">
            <a:extLst xmlns:a="http://schemas.openxmlformats.org/drawingml/2006/main">
              <a:ext uri="{FF2B5EF4-FFF2-40B4-BE49-F238E27FC236}">
                <a16:creationId xmlns:a16="http://schemas.microsoft.com/office/drawing/2014/main" id="{A53D4DDF-87AC-4572-8657-E3D04D94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171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rPr>
              <a:t>覆盖模块</a:t>
            </a:r>
          </a:p>
        </p:txBody>
      </p:sp>
      <p:sp>
        <p:nvSpPr>
          <p:cNvPr id="4" name="text-108">
            <a:extLst xmlns:a="http://schemas.openxmlformats.org/drawingml/2006/main">
              <a:ext uri="{FF2B5EF4-FFF2-40B4-BE49-F238E27FC236}">
                <a16:creationId xmlns:a16="http://schemas.microsoft.com/office/drawing/2014/main" id="{FF75F567-2397-47FF-B67B-0BBD248A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76400"/>
            <a:ext cx="32670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1044</a:t>
            </a:r>
          </a:p>
        </p:txBody>
      </p:sp>
      <p:sp>
        <p:nvSpPr>
          <p:cNvPr id="5" name="text-109">
            <a:extLst xmlns:a="http://schemas.openxmlformats.org/drawingml/2006/main">
              <a:ext uri="{FF2B5EF4-FFF2-40B4-BE49-F238E27FC236}">
                <a16:creationId xmlns:a16="http://schemas.microsoft.com/office/drawing/2014/main" id="{2006348F-6BB0-4D30-88A6-2435981A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09900"/>
            <a:ext cx="3171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rPr>
              <a:t>离线断言</a:t>
            </a:r>
          </a:p>
        </p:txBody>
      </p:sp>
      <p:sp>
        <p:nvSpPr>
          <p:cNvPr id="6" name="text-110">
            <a:extLst xmlns:a="http://schemas.openxmlformats.org/drawingml/2006/main">
              <a:ext uri="{FF2B5EF4-FFF2-40B4-BE49-F238E27FC236}">
                <a16:creationId xmlns:a16="http://schemas.microsoft.com/office/drawing/2014/main" id="{5A6B37A1-E8A9-4E87-95F6-F30C20E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32670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7" name="text-111">
            <a:extLst xmlns:a="http://schemas.openxmlformats.org/drawingml/2006/main">
              <a:ext uri="{FF2B5EF4-FFF2-40B4-BE49-F238E27FC236}">
                <a16:creationId xmlns:a16="http://schemas.microsoft.com/office/drawing/2014/main" id="{3EE8D8E2-56F5-4191-B805-137C3C18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71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rPr>
              <a:t>失败项</a:t>
            </a:r>
          </a:p>
        </p:txBody>
      </p:sp>
      <p:sp>
        <p:nvSpPr>
          <p:cNvPr id="8" name="text-112">
            <a:extLst xmlns:a="http://schemas.openxmlformats.org/drawingml/2006/main">
              <a:ext uri="{FF2B5EF4-FFF2-40B4-BE49-F238E27FC236}">
                <a16:creationId xmlns:a16="http://schemas.microsoft.com/office/drawing/2014/main" id="{121676F0-AAEF-4489-B382-6769D404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rPr>
              <a:t>代表检查结果</a:t>
            </a:r>
          </a:p>
        </p:txBody>
      </p:sp>
      <p:sp>
        <p:nvSpPr>
          <p:cNvPr id="9" name="text-113">
            <a:extLst xmlns:a="http://schemas.openxmlformats.org/drawingml/2006/main">
              <a:ext uri="{FF2B5EF4-FFF2-40B4-BE49-F238E27FC236}">
                <a16:creationId xmlns:a16="http://schemas.microsoft.com/office/drawing/2014/main" id="{D1573A42-C697-4565-AB39-EF12EC1A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2475"/>
            <a:ext cx="109061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材料更新保留原验收依据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只读写入被拒绝，排班冲突时整组保存失败</a:t>
            </a:r>
          </a:p>
        </p:txBody>
      </p:sp>
      <p:sp>
        <p:nvSpPr>
          <p:cNvPr id="10" name="rect-114">
            <a:extLst xmlns:a="http://schemas.openxmlformats.org/drawingml/2006/main">
              <a:ext uri="{FF2B5EF4-FFF2-40B4-BE49-F238E27FC236}">
                <a16:creationId xmlns:a16="http://schemas.microsoft.com/office/drawing/2014/main" id="{1715F1A2-1890-4CB6-A18B-061BE28B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15">
            <a:extLst xmlns:a="http://schemas.openxmlformats.org/drawingml/2006/main">
              <a:ext uri="{FF2B5EF4-FFF2-40B4-BE49-F238E27FC236}">
                <a16:creationId xmlns:a16="http://schemas.microsoft.com/office/drawing/2014/main" id="{F8D59E13-6901-48D0-9E56-B18B589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877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3E6E5"/>
                </a:solidFill>
                <a:latin typeface="Microsoft YaHei"/>
                <a:ea typeface="Microsoft YaHei"/>
                <a:cs typeface="Microsoft YaHei"/>
              </a:rPr>
              <a:t>结构化思维落实为规则，AI 在统一依据下辅助生产，人工负责判断与确认</a:t>
            </a:r>
          </a:p>
        </p:txBody>
      </p:sp>
    </p:spTree>
    <p:extLst>
      <p:ext uri="{BB962C8B-B14F-4D97-AF65-F5344CB8AC3E}">
        <p14:creationId xmlns:p14="http://schemas.microsoft.com/office/powerpoint/2010/main" val="1583109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F1FC1-6D0B-4DF8-A620-7BAAF549B7C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567863" y="3600450"/>
            <a:ext cx="928688" cy="657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68A04-B419-48A4-84CF-465036218678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8372475" y="3600450"/>
            <a:ext cx="1195388" cy="657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96C2A-955D-4682-AC6E-273EBCE0994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567863" y="255270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F80"/>
            </a:solidFill>
            <a:prstDash val="solid"/>
            <a:tailEnd type="triangle" w="med" len="med"/>
          </a:ln>
        </p:spPr>
      </p:cxn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A345A3-CBE9-4D61-95BC-C76BA9AD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方案比较与系统架构</a:t>
            </a:r>
          </a:p>
        </p:txBody>
      </p:sp>
      <p:sp>
        <p:nvSpPr>
          <p:cNvPr id="2" name="text-116">
            <a:extLst xmlns:a="http://schemas.openxmlformats.org/drawingml/2006/main">
              <a:ext uri="{FF2B5EF4-FFF2-40B4-BE49-F238E27FC236}">
                <a16:creationId xmlns:a16="http://schemas.microsoft.com/office/drawing/2014/main" id="{55247A1F-C645-4AE1-876E-AADA4D07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选择依据：全周期关联、材料生产、AI 输入控制与已有原型</a:t>
            </a:r>
          </a:p>
        </p:txBody>
      </p:sp>
      <p:sp>
        <p:nvSpPr>
          <p:cNvPr id="3" name="rect-117">
            <a:extLst xmlns:a="http://schemas.openxmlformats.org/drawingml/2006/main">
              <a:ext uri="{FF2B5EF4-FFF2-40B4-BE49-F238E27FC236}">
                <a16:creationId xmlns:a16="http://schemas.microsoft.com/office/drawing/2014/main" id="{681F60A6-FF8E-43FA-92E2-0724BF8D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18">
            <a:extLst xmlns:a="http://schemas.openxmlformats.org/drawingml/2006/main">
              <a:ext uri="{FF2B5EF4-FFF2-40B4-BE49-F238E27FC236}">
                <a16:creationId xmlns:a16="http://schemas.microsoft.com/office/drawing/2014/main" id="{8A6A4C56-6CF9-4699-B8D3-ECC78C5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提问备份</a:t>
            </a:r>
          </a:p>
        </p:txBody>
      </p:sp>
      <p:sp>
        <p:nvSpPr>
          <p:cNvPr id="5" name="text-119">
            <a:extLst xmlns:a="http://schemas.openxmlformats.org/drawingml/2006/main">
              <a:ext uri="{FF2B5EF4-FFF2-40B4-BE49-F238E27FC236}">
                <a16:creationId xmlns:a16="http://schemas.microsoft.com/office/drawing/2014/main" id="{AAA04F6A-10F5-421E-9069-289D37FA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3C7A6-DA5D-41BD-97E3-6E64B8BE8182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6334125" cy="3009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1581150"/>
                <a:gridCol w="1695450"/>
                <a:gridCol w="1990725"/>
              </a:tblGrid>
              <a:tr h="504825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对话与文档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低代码平台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自建工作台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</a:tr>
              <a:tr h="619125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较快上手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依赖配置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开发与测试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  <a:tr h="619125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人工维护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平台关联表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项目统一关联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控制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逐次给上下文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取决于接口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技能包与引用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  <a:tr h="619125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在线文档整合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平台权限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邀请与版本核对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-120">
            <a:extLst xmlns:a="http://schemas.openxmlformats.org/drawingml/2006/main">
              <a:ext uri="{FF2B5EF4-FFF2-40B4-BE49-F238E27FC236}">
                <a16:creationId xmlns:a16="http://schemas.microsoft.com/office/drawing/2014/main" id="{BC92CF06-C5AF-4941-8AE6-86A58D12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71675"/>
            <a:ext cx="38004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浏览器与手机入口</a:t>
            </a:r>
          </a:p>
        </p:txBody>
      </p:sp>
      <p:sp>
        <p:nvSpPr>
          <p:cNvPr id="8" name="rect-121">
            <a:extLst xmlns:a="http://schemas.openxmlformats.org/drawingml/2006/main">
              <a:ext uri="{FF2B5EF4-FFF2-40B4-BE49-F238E27FC236}">
                <a16:creationId xmlns:a16="http://schemas.microsoft.com/office/drawing/2014/main" id="{B028E9B7-BC57-48A6-9DFF-9273CA06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00375"/>
            <a:ext cx="21621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45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Node 服务</a:t>
            </a:r>
          </a:p>
        </p:txBody>
      </p:sp>
      <p:sp>
        <p:nvSpPr>
          <p:cNvPr id="10" name="rect-122">
            <a:extLst xmlns:a="http://schemas.openxmlformats.org/drawingml/2006/main">
              <a:ext uri="{FF2B5EF4-FFF2-40B4-BE49-F238E27FC236}">
                <a16:creationId xmlns:a16="http://schemas.microsoft.com/office/drawing/2014/main" id="{995025C4-EBB7-45E6-90BB-8D4AFACB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57675"/>
            <a:ext cx="1809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  <a:p xmlns:a="http://schemas.openxmlformats.org/drawingml/2006/main">
            <a:pPr algn="ctr">
              <a:defRPr sz="16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GPT-image2</a:t>
            </a:r>
          </a:p>
        </p:txBody>
      </p:sp>
      <p:sp>
        <p:nvSpPr>
          <p:cNvPr id="11" name="rect-123">
            <a:extLst xmlns:a="http://schemas.openxmlformats.org/drawingml/2006/main">
              <a:ext uri="{FF2B5EF4-FFF2-40B4-BE49-F238E27FC236}">
                <a16:creationId xmlns:a16="http://schemas.microsoft.com/office/drawing/2014/main" id="{2593A5F6-12C1-4E88-A4F5-2457A1E4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57675"/>
            <a:ext cx="2133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CBDAD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账号与项目</a:t>
            </a:r>
          </a:p>
          <a:p xmlns:a="http://schemas.openxmlformats.org/drawingml/2006/main">
            <a:pPr algn="ctr">
              <a:defRPr sz="16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交付、排班与考勤</a:t>
            </a:r>
          </a:p>
        </p:txBody>
      </p:sp>
      <p:sp>
        <p:nvSpPr>
          <p:cNvPr id="14" name="text-124">
            <a:extLst xmlns:a="http://schemas.openxmlformats.org/drawingml/2006/main">
              <a:ext uri="{FF2B5EF4-FFF2-40B4-BE49-F238E27FC236}">
                <a16:creationId xmlns:a16="http://schemas.microsoft.com/office/drawing/2014/main" id="{E344A013-B4C5-4D6E-A18C-E57ADA52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SWOT 将文件备份、冲突恢复和本机演示落实到运行安排</a:t>
            </a:r>
          </a:p>
        </p:txBody>
      </p:sp>
    </p:spTree>
    <p:extLst>
      <p:ext uri="{BB962C8B-B14F-4D97-AF65-F5344CB8AC3E}">
        <p14:creationId xmlns:p14="http://schemas.microsoft.com/office/powerpoint/2010/main" val="697241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ED236C-489F-48B4-9A46-6767ACED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结构化输入与材料核验</a:t>
            </a:r>
          </a:p>
        </p:txBody>
      </p:sp>
      <p:sp>
        <p:nvSpPr>
          <p:cNvPr id="2" name="text-125">
            <a:extLst xmlns:a="http://schemas.openxmlformats.org/drawingml/2006/main">
              <a:ext uri="{FF2B5EF4-FFF2-40B4-BE49-F238E27FC236}">
                <a16:creationId xmlns:a16="http://schemas.microsoft.com/office/drawing/2014/main" id="{DC2E7934-9719-463C-91B0-7E006183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ALIGN 组织生成要求，技能包落实事实边界与交付格式</a:t>
            </a:r>
          </a:p>
        </p:txBody>
      </p:sp>
      <p:sp>
        <p:nvSpPr>
          <p:cNvPr id="3" name="rect-126">
            <a:extLst xmlns:a="http://schemas.openxmlformats.org/drawingml/2006/main">
              <a:ext uri="{FF2B5EF4-FFF2-40B4-BE49-F238E27FC236}">
                <a16:creationId xmlns:a16="http://schemas.microsoft.com/office/drawing/2014/main" id="{0CB31B8A-3A77-4068-B13C-B0044246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27">
            <a:extLst xmlns:a="http://schemas.openxmlformats.org/drawingml/2006/main">
              <a:ext uri="{FF2B5EF4-FFF2-40B4-BE49-F238E27FC236}">
                <a16:creationId xmlns:a16="http://schemas.microsoft.com/office/drawing/2014/main" id="{F63404CE-88DE-4769-A72D-78EEF78B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提问备份</a:t>
            </a:r>
          </a:p>
        </p:txBody>
      </p:sp>
      <p:sp>
        <p:nvSpPr>
          <p:cNvPr id="5" name="text-128">
            <a:extLst xmlns:a="http://schemas.openxmlformats.org/drawingml/2006/main">
              <a:ext uri="{FF2B5EF4-FFF2-40B4-BE49-F238E27FC236}">
                <a16:creationId xmlns:a16="http://schemas.microsoft.com/office/drawing/2014/main" id="{0CF9FC10-221B-403D-83D1-0B328FB8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D2286-822E-4E11-94AE-855A08FE8C0C}"/>
              </a:ext>
            </a:extLst>
          </p:cNvPr>
          <p:cNvGraphicFramePr/>
          <p:nvPr/>
        </p:nvGraphicFramePr>
        <p:xfrm>
          <a:off xmlns:a="http://schemas.openxmlformats.org/drawingml/2006/main" x="609600" y="1800225"/>
          <a:ext xmlns:a="http://schemas.openxmlformats.org/drawingml/2006/main" cx="5391150" cy="3314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57325"/>
                <a:gridCol w="3933825"/>
              </a:tblGrid>
              <a:tr h="43815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策划书输入要求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</a:tr>
              <a:tr h="5715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目标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支撑活动组织与评审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  <a:tr h="5715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 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覆盖任务、责任和检查点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 依据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项目信息、任务与风险台账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  <a:tr h="5715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 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未知事实保留“待确认”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成果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按模板章节输出正文与表格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08707-4870-4A48-A0B1-F178B879B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cb19fc51d4626"/>
          <a:stretch xmlns:a="http://schemas.openxmlformats.org/drawingml/2006/main"/>
        </p:blipFill>
        <p:spPr>
          <a:xfrm xmlns:a="http://schemas.openxmlformats.org/drawingml/2006/main">
            <a:off x="6529163" y="1809750"/>
            <a:ext cx="5010598" cy="752475"/>
          </a:xfrm>
          <a:prstGeom xmlns:a="http://schemas.openxmlformats.org/drawingml/2006/main" prst="rect">
            <a:avLst/>
          </a:prstGeom>
        </p:spPr>
      </p:pic>
      <p:sp>
        <p:nvSpPr>
          <p:cNvPr id="8" name="text-129">
            <a:extLst xmlns:a="http://schemas.openxmlformats.org/drawingml/2006/main">
              <a:ext uri="{FF2B5EF4-FFF2-40B4-BE49-F238E27FC236}">
                <a16:creationId xmlns:a16="http://schemas.microsoft.com/office/drawing/2014/main" id="{81D0EB8A-12FB-4597-983E-130EA124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5038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人工核验与交付</a:t>
            </a:r>
          </a:p>
        </p:txBody>
      </p:sp>
      <p:sp>
        <p:nvSpPr>
          <p:cNvPr id="9" name="text-130">
            <a:extLst xmlns:a="http://schemas.openxmlformats.org/drawingml/2006/main">
              <a:ext uri="{FF2B5EF4-FFF2-40B4-BE49-F238E27FC236}">
                <a16:creationId xmlns:a16="http://schemas.microsoft.com/office/drawing/2014/main" id="{27E04D64-2D10-4A7B-B41B-5E549EA5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503872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核对日期、地点、费用和职责</a:t>
            </a:r>
          </a:p>
          <a:p xmlns:a="http://schemas.openxmlformats.org/drawingml/2006/main">
            <a: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修订草稿，确认独立交付版本</a:t>
            </a:r>
          </a:p>
          <a:p xmlns:a="http://schemas.openxmlformats.org/drawingml/2006/main">
            <a: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按需导出 Word、Excel 等文件</a:t>
            </a:r>
          </a:p>
        </p:txBody>
      </p:sp>
      <p:sp>
        <p:nvSpPr>
          <p:cNvPr id="10" name="text-131">
            <a:extLst xmlns:a="http://schemas.openxmlformats.org/drawingml/2006/main">
              <a:ext uri="{FF2B5EF4-FFF2-40B4-BE49-F238E27FC236}">
                <a16:creationId xmlns:a16="http://schemas.microsoft.com/office/drawing/2014/main" id="{825B1048-A5E0-4F01-AE2E-FE596672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海报实际提示词约束</a:t>
            </a:r>
          </a:p>
        </p:txBody>
      </p:sp>
      <p:sp>
        <p:nvSpPr>
          <p:cNvPr id="11" name="text-132">
            <a:extLst xmlns:a="http://schemas.openxmlformats.org/drawingml/2006/main">
              <a:ext uri="{FF2B5EF4-FFF2-40B4-BE49-F238E27FC236}">
                <a16:creationId xmlns:a16="http://schemas.microsoft.com/office/drawing/2014/main" id="{261E73D3-C794-4086-9A2B-11E7D813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四条活动文字逐字一致，不添加二维码、标志、赞助商或额外事实</a:t>
            </a:r>
          </a:p>
        </p:txBody>
      </p:sp>
    </p:spTree>
    <p:extLst>
      <p:ext uri="{BB962C8B-B14F-4D97-AF65-F5344CB8AC3E}">
        <p14:creationId xmlns:p14="http://schemas.microsoft.com/office/powerpoint/2010/main" val="18353956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D0ED51-FA22-4EE3-99B3-C1B5046C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测试范围与验证证据</a:t>
            </a:r>
          </a:p>
        </p:txBody>
      </p:sp>
      <p:sp>
        <p:nvSpPr>
          <p:cNvPr id="2" name="text-133">
            <a:extLst xmlns:a="http://schemas.openxmlformats.org/drawingml/2006/main">
              <a:ext uri="{FF2B5EF4-FFF2-40B4-BE49-F238E27FC236}">
                <a16:creationId xmlns:a16="http://schemas.microsoft.com/office/drawing/2014/main" id="{5BDA52B8-3253-4D6E-A200-FA8BCD86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基于 d39138e 的本机服务、临时数据与独立角色会话</a:t>
            </a:r>
          </a:p>
        </p:txBody>
      </p:sp>
      <p:sp>
        <p:nvSpPr>
          <p:cNvPr id="3" name="rect-134">
            <a:extLst xmlns:a="http://schemas.openxmlformats.org/drawingml/2006/main">
              <a:ext uri="{FF2B5EF4-FFF2-40B4-BE49-F238E27FC236}">
                <a16:creationId xmlns:a16="http://schemas.microsoft.com/office/drawing/2014/main" id="{1C9CCFF3-604C-46F9-B5BB-4D530473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35">
            <a:extLst xmlns:a="http://schemas.openxmlformats.org/drawingml/2006/main">
              <a:ext uri="{FF2B5EF4-FFF2-40B4-BE49-F238E27FC236}">
                <a16:creationId xmlns:a16="http://schemas.microsoft.com/office/drawing/2014/main" id="{56171C9B-1FDD-4AC3-BEC0-B50C2ECD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提问备份</a:t>
            </a:r>
          </a:p>
        </p:txBody>
      </p:sp>
      <p:sp>
        <p:nvSpPr>
          <p:cNvPr id="5" name="text-136">
            <a:extLst xmlns:a="http://schemas.openxmlformats.org/drawingml/2006/main">
              <a:ext uri="{FF2B5EF4-FFF2-40B4-BE49-F238E27FC236}">
                <a16:creationId xmlns:a16="http://schemas.microsoft.com/office/drawing/2014/main" id="{39A43A17-C830-49CB-821C-915EA2C3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B695D-DEE1-4482-8E1B-A1E3020D7612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5629275"/>
                <a:gridCol w="3057525"/>
              </a:tblGrid>
              <a:tr h="47625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验证组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</a:tr>
              <a:tr h="5715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离线回归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结构、计算、导出与存档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 模块，1044 断言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  <a:tr h="5715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共享与考勤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权限、版本冲突、幂等与恢复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 项通过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人员与排班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账号、入组、多人轮班与资源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 项通过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  <a:tr h="5715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任务交付关联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实名责任、版本选择与验收引用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 项通过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浏览器交互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多角色、手机入口、引用与写回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133 项通过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7" name="text-137">
            <a:extLst xmlns:a="http://schemas.openxmlformats.org/drawingml/2006/main">
              <a:ext uri="{FF2B5EF4-FFF2-40B4-BE49-F238E27FC236}">
                <a16:creationId xmlns:a16="http://schemas.microsoft.com/office/drawing/2014/main" id="{940DB1DE-6CD5-4469-8E58-B6363B91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关联专项 76 项包含 56 项接口检查与 20 项浏览器检查</a:t>
            </a:r>
          </a:p>
        </p:txBody>
      </p:sp>
      <p:sp>
        <p:nvSpPr>
          <p:cNvPr id="8" name="text-138">
            <a:extLst xmlns:a="http://schemas.openxmlformats.org/drawingml/2006/main">
              <a:ext uri="{FF2B5EF4-FFF2-40B4-BE49-F238E27FC236}">
                <a16:creationId xmlns:a16="http://schemas.microsoft.com/office/drawing/2014/main" id="{799D5C2A-9AFE-4103-9F75-4433651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AI 编排检查采用受控响应，策划书与海报内容另行人工核验</a:t>
            </a:r>
          </a:p>
        </p:txBody>
      </p:sp>
    </p:spTree>
    <p:extLst>
      <p:ext uri="{BB962C8B-B14F-4D97-AF65-F5344CB8AC3E}">
        <p14:creationId xmlns:p14="http://schemas.microsoft.com/office/powerpoint/2010/main" val="8818538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1D5ABE-39D1-4425-B156-5CAF83CE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成果索引与小组协作</a:t>
            </a:r>
          </a:p>
        </p:txBody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55172BE4-18EE-4F5D-8728-01029BC7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过程材料可编辑、可导出，交付版本支撑后续验收</a:t>
            </a:r>
          </a:p>
        </p:txBody>
      </p:sp>
      <p:sp>
        <p:nvSpPr>
          <p:cNvPr id="3" name="rect-140">
            <a:extLst xmlns:a="http://schemas.openxmlformats.org/drawingml/2006/main">
              <a:ext uri="{FF2B5EF4-FFF2-40B4-BE49-F238E27FC236}">
                <a16:creationId xmlns:a16="http://schemas.microsoft.com/office/drawing/2014/main" id="{24793C0B-A52C-46E1-9F3E-3C782A78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41">
            <a:extLst xmlns:a="http://schemas.openxmlformats.org/drawingml/2006/main">
              <a:ext uri="{FF2B5EF4-FFF2-40B4-BE49-F238E27FC236}">
                <a16:creationId xmlns:a16="http://schemas.microsoft.com/office/drawing/2014/main" id="{B8833087-3D20-4723-B2C0-FC36B87B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提问备份</a:t>
            </a:r>
          </a:p>
        </p:txBody>
      </p:sp>
      <p:sp>
        <p:nvSpPr>
          <p:cNvPr id="5" name="text-142">
            <a:extLst xmlns:a="http://schemas.openxmlformats.org/drawingml/2006/main">
              <a:ext uri="{FF2B5EF4-FFF2-40B4-BE49-F238E27FC236}">
                <a16:creationId xmlns:a16="http://schemas.microsoft.com/office/drawing/2014/main" id="{F897BF6C-09DC-43CE-82DF-A53CC535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1F9CC-6EC2-4D86-9020-6612F81A6F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7cbf3d99941fb"/>
          <a:stretch xmlns:a="http://schemas.openxmlformats.org/drawingml/2006/main"/>
        </p:blipFill>
        <p:spPr>
          <a:xfrm xmlns:a="http://schemas.openxmlformats.org/drawingml/2006/main">
            <a:off x="609600" y="1754241"/>
            <a:ext cx="5838825" cy="3311418"/>
          </a:xfrm>
          <a:prstGeom xmlns:a="http://schemas.openxmlformats.org/drawingml/2006/main" prst="rect">
            <a:avLst/>
          </a:prstGeom>
        </p:spPr>
      </p:pic>
      <p:sp>
        <p:nvSpPr>
          <p:cNvPr id="7" name="text-143">
            <a:extLst xmlns:a="http://schemas.openxmlformats.org/drawingml/2006/main">
              <a:ext uri="{FF2B5EF4-FFF2-40B4-BE49-F238E27FC236}">
                <a16:creationId xmlns:a16="http://schemas.microsoft.com/office/drawing/2014/main" id="{87E57365-9579-4DCF-80E4-22F49B94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各阶段代表材料</a:t>
            </a:r>
          </a:p>
        </p:txBody>
      </p:sp>
      <p:sp>
        <p:nvSpPr>
          <p:cNvPr id="8" name="text-144">
            <a:extLst xmlns:a="http://schemas.openxmlformats.org/drawingml/2006/main">
              <a:ext uri="{FF2B5EF4-FFF2-40B4-BE49-F238E27FC236}">
                <a16:creationId xmlns:a16="http://schemas.microsoft.com/office/drawing/2014/main" id="{BEDA283A-1075-430D-A35E-0D7380D5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4648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策划：策划书、预算与分工</a:t>
            </a:r>
          </a:p>
          <a:p xmlns:a="http://schemas.openxmlformats.org/drawingml/2006/main">
            <a: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筹备：宣传、排班与应急预案</a:t>
            </a:r>
          </a:p>
          <a:p xmlns:a="http://schemas.openxmlformats.org/drawingml/2006/main">
            <a: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执行：执行手册与现场记录</a:t>
            </a:r>
          </a:p>
          <a:p xmlns:a="http://schemas.openxmlformats.org/drawingml/2006/main">
            <a:pPr algn="l">
              <a:def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45"/>
                </a:solidFill>
                <a:latin typeface="Microsoft YaHei"/>
                <a:ea typeface="Microsoft YaHei"/>
                <a:cs typeface="Microsoft YaHei"/>
              </a:rPr>
              <a:t>收尾：复盘、决算与归档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677BD-8C07-4EDA-9653-8BB09C1F6F91}"/>
              </a:ext>
            </a:extLst>
          </p:cNvPr>
          <p:cNvGraphicFramePr/>
          <p:nvPr/>
        </p:nvGraphicFramePr>
        <p:xfrm>
          <a:off xmlns:a="http://schemas.openxmlformats.org/drawingml/2006/main" x="6858000" y="4238625"/>
          <a:ext xmlns:a="http://schemas.openxmlformats.org/drawingml/2006/main" cx="46482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57400"/>
                <a:gridCol w="2590800"/>
              </a:tblGrid>
              <a:tr h="3429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协作接口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成员与实际交付</a:t>
                      </a:r>
                    </a:p>
                  </a:txBody>
                  <a:tcPr marL="91440" marR="91440" marT="45720" marB="45720" anchor="ctr">
                    <a:solidFill>
                      <a:srgbClr val="173D45"/>
                    </a:solidFill>
                  </a:tcPr>
                </a:tc>
              </a:tr>
              <a:tr h="3810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需求与流程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待补充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  <a:tr h="3810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界面与交互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与材料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待补充</a:t>
                      </a:r>
                    </a:p>
                  </a:txBody>
                  <a:tcPr marL="91440" marR="91440" marT="45720" marB="45720" anchor="ctr">
                    <a:solidFill>
                      <a:srgbClr val="F7FAFA"/>
                    </a:solidFill>
                  </a:tcPr>
                </a:tc>
              </a:tr>
              <a:tr h="381000"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测试与交付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-145">
            <a:extLst xmlns:a="http://schemas.openxmlformats.org/drawingml/2006/main">
              <a:ext uri="{FF2B5EF4-FFF2-40B4-BE49-F238E27FC236}">
                <a16:creationId xmlns:a16="http://schemas.microsoft.com/office/drawing/2014/main" id="{449AB1ED-7C09-4A18-8496-6CEF2D60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94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7F80"/>
                </a:solidFill>
                <a:latin typeface="Microsoft YaHei"/>
                <a:ea typeface="Microsoft YaHei"/>
                <a:cs typeface="Microsoft YaHei"/>
              </a:rPr>
              <a:t>内置 21 类产出，并支持自定义章节、参考表与技能包</a:t>
            </a:r>
          </a:p>
        </p:txBody>
      </p:sp>
    </p:spTree>
    <p:extLst>
      <p:ext uri="{BB962C8B-B14F-4D97-AF65-F5344CB8AC3E}">
        <p14:creationId xmlns:p14="http://schemas.microsoft.com/office/powerpoint/2010/main" val="554566897"/>
      </p:ext>
    </p:extLst>
  </p:cSld>
</p:sld>
</file>

<file path=ppt/theme/theme1.xml><?xml version="1.0" encoding="utf-8"?>
<a:theme xmlns:a="http://schemas.openxmlformats.org/drawingml/2006/main" name="ChatGPT">
  <a:themeElements>
    <a:clrScheme name="校园活动墨绿">
      <a:dk1>
        <a:srgbClr val="000000"/>
      </a:dk1>
      <a:lt1>
        <a:srgbClr val="FFFFFF"/>
      </a:lt1>
      <a:dk2>
        <a:srgbClr val="173D45"/>
      </a:dk2>
      <a:lt2>
        <a:srgbClr val="EEF4F4"/>
      </a:lt2>
      <a:accent1>
        <a:srgbClr val="173D45"/>
      </a:accent1>
      <a:accent2>
        <a:srgbClr val="247F80"/>
      </a:accent2>
      <a:accent3>
        <a:srgbClr val="587078"/>
      </a:accent3>
      <a:accent4>
        <a:srgbClr val="A47727"/>
      </a:accent4>
      <a:accent5>
        <a:srgbClr val="A8413B"/>
      </a:accent5>
      <a:accent6>
        <a:srgbClr val="436B8E"/>
      </a:accent6>
      <a:hlink>
        <a:srgbClr val="247F80"/>
      </a:hlink>
      <a:folHlink>
        <a:srgbClr val="587078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校园活动墨绿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2026-10-11T13:43:58.5160000Z</dcterms:created>
  <dcterms:modified xsi:type="dcterms:W3CDTF">2026-10-11T13:43:58.5160000Z</dcterms:modified>
</coreProperties>
</file>